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Lst>
  <p:sldIdLst>
    <p:sldId id="256" r:id="rId2"/>
    <p:sldId id="267" r:id="rId3"/>
    <p:sldId id="257" r:id="rId4"/>
    <p:sldId id="258" r:id="rId5"/>
    <p:sldId id="259" r:id="rId6"/>
    <p:sldId id="260" r:id="rId7"/>
    <p:sldId id="271" r:id="rId8"/>
    <p:sldId id="266" r:id="rId9"/>
    <p:sldId id="265" r:id="rId10"/>
    <p:sldId id="264" r:id="rId11"/>
    <p:sldId id="263" r:id="rId12"/>
    <p:sldId id="262" r:id="rId13"/>
    <p:sldId id="268" r:id="rId14"/>
    <p:sldId id="269" r:id="rId15"/>
    <p:sldId id="270" r:id="rId16"/>
    <p:sldId id="26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75" d="100"/>
          <a:sy n="75" d="100"/>
        </p:scale>
        <p:origin x="58" y="5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F48DB-F9F7-4AE2-BF85-E555FF0C2EF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55076E20-CF58-41D4-8644-BBD41E60257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965165E0-96F3-4B3F-93E8-A8522CBA76BD}"/>
              </a:ext>
            </a:extLst>
          </p:cNvPr>
          <p:cNvSpPr>
            <a:spLocks noGrp="1"/>
          </p:cNvSpPr>
          <p:nvPr>
            <p:ph type="dt" sz="half" idx="10"/>
          </p:nvPr>
        </p:nvSpPr>
        <p:spPr/>
        <p:txBody>
          <a:bodyPr/>
          <a:lstStyle/>
          <a:p>
            <a:fld id="{98D2A4B3-6C78-4478-8FC9-45E97051CF5F}" type="datetimeFigureOut">
              <a:rPr lang="en-GB" smtClean="0"/>
              <a:t>20/02/2026</a:t>
            </a:fld>
            <a:endParaRPr lang="en-GB"/>
          </a:p>
        </p:txBody>
      </p:sp>
      <p:sp>
        <p:nvSpPr>
          <p:cNvPr id="5" name="Footer Placeholder 4">
            <a:extLst>
              <a:ext uri="{FF2B5EF4-FFF2-40B4-BE49-F238E27FC236}">
                <a16:creationId xmlns:a16="http://schemas.microsoft.com/office/drawing/2014/main" id="{6C8C16B3-B127-4FD4-B1E7-C2F48AD6E5E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8F2EF4E-5E96-42E9-93CF-83B97C490F5D}"/>
              </a:ext>
            </a:extLst>
          </p:cNvPr>
          <p:cNvSpPr>
            <a:spLocks noGrp="1"/>
          </p:cNvSpPr>
          <p:nvPr>
            <p:ph type="sldNum" sz="quarter" idx="12"/>
          </p:nvPr>
        </p:nvSpPr>
        <p:spPr/>
        <p:txBody>
          <a:bodyPr/>
          <a:lstStyle/>
          <a:p>
            <a:fld id="{E5EA93B1-25B1-4634-A420-9F5B985B557D}" type="slidenum">
              <a:rPr lang="en-GB" smtClean="0"/>
              <a:t>‹#›</a:t>
            </a:fld>
            <a:endParaRPr lang="en-GB"/>
          </a:p>
        </p:txBody>
      </p:sp>
    </p:spTree>
    <p:extLst>
      <p:ext uri="{BB962C8B-B14F-4D97-AF65-F5344CB8AC3E}">
        <p14:creationId xmlns:p14="http://schemas.microsoft.com/office/powerpoint/2010/main" val="18992359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F2E1A-D733-4DCE-929B-6619A65B46E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66CBD6A-F766-46BD-860E-1A8A71E7F6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7317474-6D46-490B-A107-8050726811BC}"/>
              </a:ext>
            </a:extLst>
          </p:cNvPr>
          <p:cNvSpPr>
            <a:spLocks noGrp="1"/>
          </p:cNvSpPr>
          <p:nvPr>
            <p:ph type="dt" sz="half" idx="10"/>
          </p:nvPr>
        </p:nvSpPr>
        <p:spPr/>
        <p:txBody>
          <a:bodyPr/>
          <a:lstStyle/>
          <a:p>
            <a:fld id="{98D2A4B3-6C78-4478-8FC9-45E97051CF5F}" type="datetimeFigureOut">
              <a:rPr lang="en-GB" smtClean="0"/>
              <a:t>20/02/2026</a:t>
            </a:fld>
            <a:endParaRPr lang="en-GB"/>
          </a:p>
        </p:txBody>
      </p:sp>
      <p:sp>
        <p:nvSpPr>
          <p:cNvPr id="5" name="Footer Placeholder 4">
            <a:extLst>
              <a:ext uri="{FF2B5EF4-FFF2-40B4-BE49-F238E27FC236}">
                <a16:creationId xmlns:a16="http://schemas.microsoft.com/office/drawing/2014/main" id="{FFE735AB-A41E-44D6-B5B3-09A2245B261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4E8E839-A358-4C0C-953F-D8CD98088142}"/>
              </a:ext>
            </a:extLst>
          </p:cNvPr>
          <p:cNvSpPr>
            <a:spLocks noGrp="1"/>
          </p:cNvSpPr>
          <p:nvPr>
            <p:ph type="sldNum" sz="quarter" idx="12"/>
          </p:nvPr>
        </p:nvSpPr>
        <p:spPr/>
        <p:txBody>
          <a:bodyPr/>
          <a:lstStyle/>
          <a:p>
            <a:fld id="{E5EA93B1-25B1-4634-A420-9F5B985B557D}" type="slidenum">
              <a:rPr lang="en-GB" smtClean="0"/>
              <a:t>‹#›</a:t>
            </a:fld>
            <a:endParaRPr lang="en-GB"/>
          </a:p>
        </p:txBody>
      </p:sp>
    </p:spTree>
    <p:extLst>
      <p:ext uri="{BB962C8B-B14F-4D97-AF65-F5344CB8AC3E}">
        <p14:creationId xmlns:p14="http://schemas.microsoft.com/office/powerpoint/2010/main" val="164390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6E2E5-CA76-480B-BC9E-AA728759DF3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635513A2-302D-423A-A2E0-0078C1F5819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30ADCD4-FDC8-4533-AF96-08A70823F2FA}"/>
              </a:ext>
            </a:extLst>
          </p:cNvPr>
          <p:cNvSpPr>
            <a:spLocks noGrp="1"/>
          </p:cNvSpPr>
          <p:nvPr>
            <p:ph type="dt" sz="half" idx="10"/>
          </p:nvPr>
        </p:nvSpPr>
        <p:spPr/>
        <p:txBody>
          <a:bodyPr/>
          <a:lstStyle/>
          <a:p>
            <a:fld id="{98D2A4B3-6C78-4478-8FC9-45E97051CF5F}" type="datetimeFigureOut">
              <a:rPr lang="en-GB" smtClean="0"/>
              <a:t>20/02/2026</a:t>
            </a:fld>
            <a:endParaRPr lang="en-GB"/>
          </a:p>
        </p:txBody>
      </p:sp>
      <p:sp>
        <p:nvSpPr>
          <p:cNvPr id="5" name="Footer Placeholder 4">
            <a:extLst>
              <a:ext uri="{FF2B5EF4-FFF2-40B4-BE49-F238E27FC236}">
                <a16:creationId xmlns:a16="http://schemas.microsoft.com/office/drawing/2014/main" id="{E3E84CA6-E066-48BD-8225-6BEA27E83BE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588C334-6B62-4459-9122-925FDB695D36}"/>
              </a:ext>
            </a:extLst>
          </p:cNvPr>
          <p:cNvSpPr>
            <a:spLocks noGrp="1"/>
          </p:cNvSpPr>
          <p:nvPr>
            <p:ph type="sldNum" sz="quarter" idx="12"/>
          </p:nvPr>
        </p:nvSpPr>
        <p:spPr/>
        <p:txBody>
          <a:bodyPr/>
          <a:lstStyle/>
          <a:p>
            <a:fld id="{E5EA93B1-25B1-4634-A420-9F5B985B557D}" type="slidenum">
              <a:rPr lang="en-GB" smtClean="0"/>
              <a:t>‹#›</a:t>
            </a:fld>
            <a:endParaRPr lang="en-GB"/>
          </a:p>
        </p:txBody>
      </p:sp>
    </p:spTree>
    <p:extLst>
      <p:ext uri="{BB962C8B-B14F-4D97-AF65-F5344CB8AC3E}">
        <p14:creationId xmlns:p14="http://schemas.microsoft.com/office/powerpoint/2010/main" val="7963488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3F92AF-1CA2-454F-A682-142B5B15F2A5}"/>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10F9319-CFF4-47C8-9945-926F38C7D64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208E63F6-2535-4CA2-8DE0-CC1C36D5648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0B089DAF-5847-4A7D-B16A-0C4BEFD1FF86}"/>
              </a:ext>
            </a:extLst>
          </p:cNvPr>
          <p:cNvSpPr>
            <a:spLocks noGrp="1"/>
          </p:cNvSpPr>
          <p:nvPr>
            <p:ph type="dt" sz="half" idx="10"/>
          </p:nvPr>
        </p:nvSpPr>
        <p:spPr/>
        <p:txBody>
          <a:bodyPr/>
          <a:lstStyle/>
          <a:p>
            <a:fld id="{98D2A4B3-6C78-4478-8FC9-45E97051CF5F}" type="datetimeFigureOut">
              <a:rPr lang="en-GB" smtClean="0"/>
              <a:t>20/02/2026</a:t>
            </a:fld>
            <a:endParaRPr lang="en-GB"/>
          </a:p>
        </p:txBody>
      </p:sp>
      <p:sp>
        <p:nvSpPr>
          <p:cNvPr id="6" name="Footer Placeholder 5">
            <a:extLst>
              <a:ext uri="{FF2B5EF4-FFF2-40B4-BE49-F238E27FC236}">
                <a16:creationId xmlns:a16="http://schemas.microsoft.com/office/drawing/2014/main" id="{B757B67A-8175-45FB-9627-378E8FC5CC8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13C14D5-FD81-4015-81FB-AA99ADE56DD8}"/>
              </a:ext>
            </a:extLst>
          </p:cNvPr>
          <p:cNvSpPr>
            <a:spLocks noGrp="1"/>
          </p:cNvSpPr>
          <p:nvPr>
            <p:ph type="sldNum" sz="quarter" idx="12"/>
          </p:nvPr>
        </p:nvSpPr>
        <p:spPr/>
        <p:txBody>
          <a:bodyPr/>
          <a:lstStyle/>
          <a:p>
            <a:fld id="{E5EA93B1-25B1-4634-A420-9F5B985B557D}" type="slidenum">
              <a:rPr lang="en-GB" smtClean="0"/>
              <a:t>‹#›</a:t>
            </a:fld>
            <a:endParaRPr lang="en-GB"/>
          </a:p>
        </p:txBody>
      </p:sp>
    </p:spTree>
    <p:extLst>
      <p:ext uri="{BB962C8B-B14F-4D97-AF65-F5344CB8AC3E}">
        <p14:creationId xmlns:p14="http://schemas.microsoft.com/office/powerpoint/2010/main" val="38854343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2C9DEE-C2E1-47F3-8E85-51944DA11AC5}"/>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2321A12E-8298-4935-A6AE-8BCB8568872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5EE456A-EAE8-42EE-9942-6715388D81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5981ED4F-E93E-4F73-A901-87E5E551FC8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D659BA6-E124-4C29-A4F5-93DA519E144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66B669F8-B65F-4D0B-A67C-9246A6C8C941}"/>
              </a:ext>
            </a:extLst>
          </p:cNvPr>
          <p:cNvSpPr>
            <a:spLocks noGrp="1"/>
          </p:cNvSpPr>
          <p:nvPr>
            <p:ph type="dt" sz="half" idx="10"/>
          </p:nvPr>
        </p:nvSpPr>
        <p:spPr/>
        <p:txBody>
          <a:bodyPr/>
          <a:lstStyle/>
          <a:p>
            <a:fld id="{98D2A4B3-6C78-4478-8FC9-45E97051CF5F}" type="datetimeFigureOut">
              <a:rPr lang="en-GB" smtClean="0"/>
              <a:t>20/02/2026</a:t>
            </a:fld>
            <a:endParaRPr lang="en-GB"/>
          </a:p>
        </p:txBody>
      </p:sp>
      <p:sp>
        <p:nvSpPr>
          <p:cNvPr id="8" name="Footer Placeholder 7">
            <a:extLst>
              <a:ext uri="{FF2B5EF4-FFF2-40B4-BE49-F238E27FC236}">
                <a16:creationId xmlns:a16="http://schemas.microsoft.com/office/drawing/2014/main" id="{72ABE0D1-19A7-441A-B269-D8EB9E7A534A}"/>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77C6060C-B3B6-4DBA-AC99-8A909C5BF202}"/>
              </a:ext>
            </a:extLst>
          </p:cNvPr>
          <p:cNvSpPr>
            <a:spLocks noGrp="1"/>
          </p:cNvSpPr>
          <p:nvPr>
            <p:ph type="sldNum" sz="quarter" idx="12"/>
          </p:nvPr>
        </p:nvSpPr>
        <p:spPr/>
        <p:txBody>
          <a:bodyPr/>
          <a:lstStyle/>
          <a:p>
            <a:fld id="{E5EA93B1-25B1-4634-A420-9F5B985B557D}" type="slidenum">
              <a:rPr lang="en-GB" smtClean="0"/>
              <a:t>‹#›</a:t>
            </a:fld>
            <a:endParaRPr lang="en-GB"/>
          </a:p>
        </p:txBody>
      </p:sp>
    </p:spTree>
    <p:extLst>
      <p:ext uri="{BB962C8B-B14F-4D97-AF65-F5344CB8AC3E}">
        <p14:creationId xmlns:p14="http://schemas.microsoft.com/office/powerpoint/2010/main" val="33752627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3481E-5DF2-4174-95F8-CFAF28A137CB}"/>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35EEFE09-BC44-44D9-8CC5-61D032232B0E}"/>
              </a:ext>
            </a:extLst>
          </p:cNvPr>
          <p:cNvSpPr>
            <a:spLocks noGrp="1"/>
          </p:cNvSpPr>
          <p:nvPr>
            <p:ph type="dt" sz="half" idx="10"/>
          </p:nvPr>
        </p:nvSpPr>
        <p:spPr/>
        <p:txBody>
          <a:bodyPr/>
          <a:lstStyle/>
          <a:p>
            <a:fld id="{98D2A4B3-6C78-4478-8FC9-45E97051CF5F}" type="datetimeFigureOut">
              <a:rPr lang="en-GB" smtClean="0"/>
              <a:t>20/02/2026</a:t>
            </a:fld>
            <a:endParaRPr lang="en-GB"/>
          </a:p>
        </p:txBody>
      </p:sp>
      <p:sp>
        <p:nvSpPr>
          <p:cNvPr id="4" name="Footer Placeholder 3">
            <a:extLst>
              <a:ext uri="{FF2B5EF4-FFF2-40B4-BE49-F238E27FC236}">
                <a16:creationId xmlns:a16="http://schemas.microsoft.com/office/drawing/2014/main" id="{F40F7DA3-AD58-49CC-BD76-8099AF44FA7C}"/>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C22CB411-A791-47CF-AC4C-994BF6B47621}"/>
              </a:ext>
            </a:extLst>
          </p:cNvPr>
          <p:cNvSpPr>
            <a:spLocks noGrp="1"/>
          </p:cNvSpPr>
          <p:nvPr>
            <p:ph type="sldNum" sz="quarter" idx="12"/>
          </p:nvPr>
        </p:nvSpPr>
        <p:spPr/>
        <p:txBody>
          <a:bodyPr/>
          <a:lstStyle/>
          <a:p>
            <a:fld id="{E5EA93B1-25B1-4634-A420-9F5B985B557D}" type="slidenum">
              <a:rPr lang="en-GB" smtClean="0"/>
              <a:t>‹#›</a:t>
            </a:fld>
            <a:endParaRPr lang="en-GB"/>
          </a:p>
        </p:txBody>
      </p:sp>
    </p:spTree>
    <p:extLst>
      <p:ext uri="{BB962C8B-B14F-4D97-AF65-F5344CB8AC3E}">
        <p14:creationId xmlns:p14="http://schemas.microsoft.com/office/powerpoint/2010/main" val="35773212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7CD8C6-A670-4997-BF7A-DB09E1D2B29C}"/>
              </a:ext>
            </a:extLst>
          </p:cNvPr>
          <p:cNvSpPr>
            <a:spLocks noGrp="1"/>
          </p:cNvSpPr>
          <p:nvPr>
            <p:ph type="dt" sz="half" idx="10"/>
          </p:nvPr>
        </p:nvSpPr>
        <p:spPr/>
        <p:txBody>
          <a:bodyPr/>
          <a:lstStyle/>
          <a:p>
            <a:fld id="{98D2A4B3-6C78-4478-8FC9-45E97051CF5F}" type="datetimeFigureOut">
              <a:rPr lang="en-GB" smtClean="0"/>
              <a:t>20/02/2026</a:t>
            </a:fld>
            <a:endParaRPr lang="en-GB"/>
          </a:p>
        </p:txBody>
      </p:sp>
      <p:sp>
        <p:nvSpPr>
          <p:cNvPr id="3" name="Footer Placeholder 2">
            <a:extLst>
              <a:ext uri="{FF2B5EF4-FFF2-40B4-BE49-F238E27FC236}">
                <a16:creationId xmlns:a16="http://schemas.microsoft.com/office/drawing/2014/main" id="{3E05C554-5E73-41A7-BF0C-6FD5B1C31DA9}"/>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E7F9A826-5BA6-4B71-AE91-06A5A42EBD24}"/>
              </a:ext>
            </a:extLst>
          </p:cNvPr>
          <p:cNvSpPr>
            <a:spLocks noGrp="1"/>
          </p:cNvSpPr>
          <p:nvPr>
            <p:ph type="sldNum" sz="quarter" idx="12"/>
          </p:nvPr>
        </p:nvSpPr>
        <p:spPr/>
        <p:txBody>
          <a:bodyPr/>
          <a:lstStyle/>
          <a:p>
            <a:fld id="{E5EA93B1-25B1-4634-A420-9F5B985B557D}" type="slidenum">
              <a:rPr lang="en-GB" smtClean="0"/>
              <a:t>‹#›</a:t>
            </a:fld>
            <a:endParaRPr lang="en-GB"/>
          </a:p>
        </p:txBody>
      </p:sp>
    </p:spTree>
    <p:extLst>
      <p:ext uri="{BB962C8B-B14F-4D97-AF65-F5344CB8AC3E}">
        <p14:creationId xmlns:p14="http://schemas.microsoft.com/office/powerpoint/2010/main" val="22765779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AE3E1-5695-4EE5-9B0A-537D714F066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7547D5FE-C6D9-49E6-BB23-10BF71014FF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65172839-3E31-4C6F-9CBA-B10984BC5C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58396E-ED46-4A29-A1B4-23FB07EC0B27}"/>
              </a:ext>
            </a:extLst>
          </p:cNvPr>
          <p:cNvSpPr>
            <a:spLocks noGrp="1"/>
          </p:cNvSpPr>
          <p:nvPr>
            <p:ph type="dt" sz="half" idx="10"/>
          </p:nvPr>
        </p:nvSpPr>
        <p:spPr/>
        <p:txBody>
          <a:bodyPr/>
          <a:lstStyle/>
          <a:p>
            <a:fld id="{98D2A4B3-6C78-4478-8FC9-45E97051CF5F}" type="datetimeFigureOut">
              <a:rPr lang="en-GB" smtClean="0"/>
              <a:t>20/02/2026</a:t>
            </a:fld>
            <a:endParaRPr lang="en-GB"/>
          </a:p>
        </p:txBody>
      </p:sp>
      <p:sp>
        <p:nvSpPr>
          <p:cNvPr id="6" name="Footer Placeholder 5">
            <a:extLst>
              <a:ext uri="{FF2B5EF4-FFF2-40B4-BE49-F238E27FC236}">
                <a16:creationId xmlns:a16="http://schemas.microsoft.com/office/drawing/2014/main" id="{C8DEF291-1B56-46C8-A95C-E96587E5622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D9B2467-717D-4EF6-8B82-E6BE355167FA}"/>
              </a:ext>
            </a:extLst>
          </p:cNvPr>
          <p:cNvSpPr>
            <a:spLocks noGrp="1"/>
          </p:cNvSpPr>
          <p:nvPr>
            <p:ph type="sldNum" sz="quarter" idx="12"/>
          </p:nvPr>
        </p:nvSpPr>
        <p:spPr/>
        <p:txBody>
          <a:bodyPr/>
          <a:lstStyle/>
          <a:p>
            <a:fld id="{E5EA93B1-25B1-4634-A420-9F5B985B557D}" type="slidenum">
              <a:rPr lang="en-GB" smtClean="0"/>
              <a:t>‹#›</a:t>
            </a:fld>
            <a:endParaRPr lang="en-GB"/>
          </a:p>
        </p:txBody>
      </p:sp>
    </p:spTree>
    <p:extLst>
      <p:ext uri="{BB962C8B-B14F-4D97-AF65-F5344CB8AC3E}">
        <p14:creationId xmlns:p14="http://schemas.microsoft.com/office/powerpoint/2010/main" val="38512984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18707-F436-4B62-B8AE-B555C89001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DC0DFD57-3663-411B-8B76-2BEA3890672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GB"/>
          </a:p>
        </p:txBody>
      </p:sp>
      <p:sp>
        <p:nvSpPr>
          <p:cNvPr id="4" name="Text Placeholder 3">
            <a:extLst>
              <a:ext uri="{FF2B5EF4-FFF2-40B4-BE49-F238E27FC236}">
                <a16:creationId xmlns:a16="http://schemas.microsoft.com/office/drawing/2014/main" id="{C5EF1917-9555-4E74-8488-6E681633AA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AE25E8C-28E8-41A3-BD20-A4E776774D97}"/>
              </a:ext>
            </a:extLst>
          </p:cNvPr>
          <p:cNvSpPr>
            <a:spLocks noGrp="1"/>
          </p:cNvSpPr>
          <p:nvPr>
            <p:ph type="dt" sz="half" idx="10"/>
          </p:nvPr>
        </p:nvSpPr>
        <p:spPr/>
        <p:txBody>
          <a:bodyPr/>
          <a:lstStyle/>
          <a:p>
            <a:fld id="{98D2A4B3-6C78-4478-8FC9-45E97051CF5F}" type="datetimeFigureOut">
              <a:rPr lang="en-GB" smtClean="0"/>
              <a:t>20/02/2026</a:t>
            </a:fld>
            <a:endParaRPr lang="en-GB"/>
          </a:p>
        </p:txBody>
      </p:sp>
      <p:sp>
        <p:nvSpPr>
          <p:cNvPr id="6" name="Footer Placeholder 5">
            <a:extLst>
              <a:ext uri="{FF2B5EF4-FFF2-40B4-BE49-F238E27FC236}">
                <a16:creationId xmlns:a16="http://schemas.microsoft.com/office/drawing/2014/main" id="{FD28A56A-5A3F-49D3-B1BF-A93C77711A2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9925AAA-1434-4FB6-867B-1E7EE50642BD}"/>
              </a:ext>
            </a:extLst>
          </p:cNvPr>
          <p:cNvSpPr>
            <a:spLocks noGrp="1"/>
          </p:cNvSpPr>
          <p:nvPr>
            <p:ph type="sldNum" sz="quarter" idx="12"/>
          </p:nvPr>
        </p:nvSpPr>
        <p:spPr/>
        <p:txBody>
          <a:bodyPr/>
          <a:lstStyle/>
          <a:p>
            <a:fld id="{E5EA93B1-25B1-4634-A420-9F5B985B557D}" type="slidenum">
              <a:rPr lang="en-GB" smtClean="0"/>
              <a:t>‹#›</a:t>
            </a:fld>
            <a:endParaRPr lang="en-GB"/>
          </a:p>
        </p:txBody>
      </p:sp>
    </p:spTree>
    <p:extLst>
      <p:ext uri="{BB962C8B-B14F-4D97-AF65-F5344CB8AC3E}">
        <p14:creationId xmlns:p14="http://schemas.microsoft.com/office/powerpoint/2010/main" val="22046513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A275BD-3A4A-4F28-8301-D9445FFC2383}"/>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96DC51A-56CB-4053-B358-D79D0197B38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89BB9FA-F93F-4322-B430-81B1DFB0D4E8}"/>
              </a:ext>
            </a:extLst>
          </p:cNvPr>
          <p:cNvSpPr>
            <a:spLocks noGrp="1"/>
          </p:cNvSpPr>
          <p:nvPr>
            <p:ph type="dt" sz="half" idx="10"/>
          </p:nvPr>
        </p:nvSpPr>
        <p:spPr/>
        <p:txBody>
          <a:bodyPr/>
          <a:lstStyle/>
          <a:p>
            <a:fld id="{98D2A4B3-6C78-4478-8FC9-45E97051CF5F}" type="datetimeFigureOut">
              <a:rPr lang="en-GB" smtClean="0"/>
              <a:t>20/02/2026</a:t>
            </a:fld>
            <a:endParaRPr lang="en-GB"/>
          </a:p>
        </p:txBody>
      </p:sp>
      <p:sp>
        <p:nvSpPr>
          <p:cNvPr id="5" name="Footer Placeholder 4">
            <a:extLst>
              <a:ext uri="{FF2B5EF4-FFF2-40B4-BE49-F238E27FC236}">
                <a16:creationId xmlns:a16="http://schemas.microsoft.com/office/drawing/2014/main" id="{439EEF18-C9BE-4ADF-AB58-6C3A726D483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C6E10AB-CD9E-440B-AFD0-73122EFA86D5}"/>
              </a:ext>
            </a:extLst>
          </p:cNvPr>
          <p:cNvSpPr>
            <a:spLocks noGrp="1"/>
          </p:cNvSpPr>
          <p:nvPr>
            <p:ph type="sldNum" sz="quarter" idx="12"/>
          </p:nvPr>
        </p:nvSpPr>
        <p:spPr/>
        <p:txBody>
          <a:bodyPr/>
          <a:lstStyle/>
          <a:p>
            <a:fld id="{E5EA93B1-25B1-4634-A420-9F5B985B557D}" type="slidenum">
              <a:rPr lang="en-GB" smtClean="0"/>
              <a:t>‹#›</a:t>
            </a:fld>
            <a:endParaRPr lang="en-GB"/>
          </a:p>
        </p:txBody>
      </p:sp>
    </p:spTree>
    <p:extLst>
      <p:ext uri="{BB962C8B-B14F-4D97-AF65-F5344CB8AC3E}">
        <p14:creationId xmlns:p14="http://schemas.microsoft.com/office/powerpoint/2010/main" val="16172151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BDCB0B5-EC63-4937-AF54-5754F3C3A8D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23D10F9-51F6-4BC3-B9AC-E28731A5204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25B941D-FB81-469D-8F8E-AAD911F44589}"/>
              </a:ext>
            </a:extLst>
          </p:cNvPr>
          <p:cNvSpPr>
            <a:spLocks noGrp="1"/>
          </p:cNvSpPr>
          <p:nvPr>
            <p:ph type="dt" sz="half" idx="10"/>
          </p:nvPr>
        </p:nvSpPr>
        <p:spPr/>
        <p:txBody>
          <a:bodyPr/>
          <a:lstStyle/>
          <a:p>
            <a:fld id="{98D2A4B3-6C78-4478-8FC9-45E97051CF5F}" type="datetimeFigureOut">
              <a:rPr lang="en-GB" smtClean="0"/>
              <a:t>20/02/2026</a:t>
            </a:fld>
            <a:endParaRPr lang="en-GB"/>
          </a:p>
        </p:txBody>
      </p:sp>
      <p:sp>
        <p:nvSpPr>
          <p:cNvPr id="5" name="Footer Placeholder 4">
            <a:extLst>
              <a:ext uri="{FF2B5EF4-FFF2-40B4-BE49-F238E27FC236}">
                <a16:creationId xmlns:a16="http://schemas.microsoft.com/office/drawing/2014/main" id="{5EA9C440-1474-4A0A-A428-F8D57B8B30C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3F8C94A-26FA-48D7-A966-5B18687C1652}"/>
              </a:ext>
            </a:extLst>
          </p:cNvPr>
          <p:cNvSpPr>
            <a:spLocks noGrp="1"/>
          </p:cNvSpPr>
          <p:nvPr>
            <p:ph type="sldNum" sz="quarter" idx="12"/>
          </p:nvPr>
        </p:nvSpPr>
        <p:spPr/>
        <p:txBody>
          <a:bodyPr/>
          <a:lstStyle/>
          <a:p>
            <a:fld id="{E5EA93B1-25B1-4634-A420-9F5B985B557D}" type="slidenum">
              <a:rPr lang="en-GB" smtClean="0"/>
              <a:t>‹#›</a:t>
            </a:fld>
            <a:endParaRPr lang="en-GB"/>
          </a:p>
        </p:txBody>
      </p:sp>
    </p:spTree>
    <p:extLst>
      <p:ext uri="{BB962C8B-B14F-4D97-AF65-F5344CB8AC3E}">
        <p14:creationId xmlns:p14="http://schemas.microsoft.com/office/powerpoint/2010/main" val="42525699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3303EFA-9456-4587-9048-7B6A741340A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7552560C-CC63-4BEC-99CC-353481E0965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C3B4C8F-07CC-40C9-AF7C-5F096120192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8D2A4B3-6C78-4478-8FC9-45E97051CF5F}" type="datetimeFigureOut">
              <a:rPr lang="en-GB" smtClean="0"/>
              <a:t>20/02/2026</a:t>
            </a:fld>
            <a:endParaRPr lang="en-GB"/>
          </a:p>
        </p:txBody>
      </p:sp>
      <p:sp>
        <p:nvSpPr>
          <p:cNvPr id="5" name="Footer Placeholder 4">
            <a:extLst>
              <a:ext uri="{FF2B5EF4-FFF2-40B4-BE49-F238E27FC236}">
                <a16:creationId xmlns:a16="http://schemas.microsoft.com/office/drawing/2014/main" id="{9BF226FC-9151-45C4-90F6-CCD7BDDB912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AE828BC3-BA9E-4528-B132-D91AE80404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5EA93B1-25B1-4634-A420-9F5B985B557D}" type="slidenum">
              <a:rPr lang="en-GB" smtClean="0"/>
              <a:t>‹#›</a:t>
            </a:fld>
            <a:endParaRPr lang="en-GB"/>
          </a:p>
        </p:txBody>
      </p:sp>
    </p:spTree>
    <p:extLst>
      <p:ext uri="{BB962C8B-B14F-4D97-AF65-F5344CB8AC3E}">
        <p14:creationId xmlns:p14="http://schemas.microsoft.com/office/powerpoint/2010/main" val="26349799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learnpythonthehardway.org/python3/"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learnpythonthehardway.org/python3/"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hyperlink" Target="https://officenationalstatistics.sharepoint.com/:f:/r/sites/sps_tesuanin/Technical%20Innovation/E_Training_and_Development/Skill%20Sharing/Session%20Resources?csf=1&amp;web=1&amp;e=uTlizI&amp;xsdata=MDV8MDJ8fGRmYjllZjE0ZDMyMDQ0OTk1M2Y5MDhkZTU5OWM1Y2JjfDA3ODgwN2JmY2U4MjQ2ODhiY2UwMGQ4MTE2ODRkYzQ2fDB8MHw2MzkwNDY3MjUyMzg4MDU0OTd8VW5rbm93bnxWR1ZoYlhOVFpXTjFjbWwwZVZObGNuWnBZMlY4ZXlKRFFTSTZJbFJsWVcxelgwRlVVRk5sY25acFkyVmZVMUJQVEU5R0lpd2lWaUk2SWpBdU1DNHdNREF3SWl3aVVDSTZJbGRwYmpNeUlpd2lRVTRpT2lKUGRHaGxjaUlzSWxkVUlqb3hNWDA9fDF8TDJOb1lYUnpMekU1T21SaU5ERmpOemd6WmpsbU16UmlaVGxpWmpnd04yRXhOell4TlRVMk1UQmpRSFJvY21WaFpDNTJNaTl0WlhOellXZGxjeTh4TnpZNU1EYzFOekl4TWpVMXxkZGQ2N2ZlOWI0YTQ0MjBhMDU5ZjA4ZGU1OTljNWNiY3xlY2U2NWQ1Mzk4M2Q0YmM4OTBiOWVmM2U2NGVjMDNiMw%3D%3D&amp;sdata=d2luV09KbnVycHpRclJXNlYvRlJtTFk0WUd0MStNblVyS0FGVXhiQzRRTT0%3D&amp;ovuser=078807bf-ce82-4688-bce0-0d811684dc46%2CWendy.Olsen%40ons.gov.uk" TargetMode="External"/><Relationship Id="rId2" Type="http://schemas.openxmlformats.org/officeDocument/2006/relationships/hyperlink" Target="https://officenationalstatistics.sharepoint.com/:o:/r/sites/sps_tesuanin/Design%20Coherence/Upskilling%20Materials/PSD_Capability_Building?d=w4c02218afe184454bde7abbd9564fd47&amp;csf=1&amp;web=1&amp;e=Csnuik&amp;xsdata=MDV8MDJ8fGRmYjllZjE0ZDMyMDQ0OTk1M2Y5MDhkZTU5OWM1Y2JjfDA3ODgwN2JmY2U4MjQ2ODhiY2UwMGQ4MTE2ODRkYzQ2fDB8MHw2MzkwNDY3MjUyMzg4MjU1NDh8VW5rbm93bnxWR1ZoYlhOVFpXTjFjbWwwZVZObGNuWnBZMlY4ZXlKRFFTSTZJbFJsWVcxelgwRlVVRk5sY25acFkyVmZVMUJQVEU5R0lpd2lWaUk2SWpBdU1DNHdNREF3SWl3aVVDSTZJbGRwYmpNeUlpd2lRVTRpT2lKUGRHaGxjaUlzSWxkVUlqb3hNWDA9fDF8TDJOb1lYUnpMekU1T21SaU5ERmpOemd6WmpsbU16UmlaVGxpWmpnd04yRXhOell4TlRVMk1UQmpRSFJvY21WaFpDNTJNaTl0WlhOellXZGxjeTh4TnpZNU1EYzFOekl4TWpVMXxkZGQ2N2ZlOWI0YTQ0MjBhMDU5ZjA4ZGU1OTljNWNiY3xlY2U2NWQ1Mzk4M2Q0YmM4OTBiOWVmM2U2NGVjMDNiMw%3D%3D&amp;sdata=dFIvQkNxajk3NDBEYWl5M29VQ0plNjdoQ1RzYTkxbWNTNzZ0Z3NmcHo0bz0%3D&amp;ovuser=078807bf-ce82-4688-bce0-0d811684dc46%2CWendy.Olsen%40ons.gov.uk" TargetMode="External"/><Relationship Id="rId1" Type="http://schemas.openxmlformats.org/officeDocument/2006/relationships/slideLayout" Target="../slideLayouts/slideLayout2.xml"/><Relationship Id="rId5" Type="http://schemas.openxmlformats.org/officeDocument/2006/relationships/hyperlink" Target="file:///C:\Users\OlseNW\Downloads\ITP_course_intro%20(1).html" TargetMode="External"/><Relationship Id="rId4" Type="http://schemas.openxmlformats.org/officeDocument/2006/relationships/hyperlink" Target="https://learninghub.ons.gov.uk/course/view.php?id=1168"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www.kaggle.com/datasets/asadullahcreative/world-population-by-country-2025"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wesmckinney.com/book" TargetMode="External"/><Relationship Id="rId2" Type="http://schemas.openxmlformats.org/officeDocument/2006/relationships/hyperlink" Target="https://m365.cloud.microsoft/chat/?home=1&amp;auth=2"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w3schools.com/python/python_for_loops.asp" TargetMode="External"/><Relationship Id="rId2" Type="http://schemas.openxmlformats.org/officeDocument/2006/relationships/hyperlink" Target="https://sparkbyexamples.com/python-pandas-tutorial-for-beginners/" TargetMode="External"/><Relationship Id="rId1" Type="http://schemas.openxmlformats.org/officeDocument/2006/relationships/slideLayout" Target="../slideLayouts/slideLayout2.xml"/><Relationship Id="rId6" Type="http://schemas.openxmlformats.org/officeDocument/2006/relationships/hyperlink" Target="https://github.com/WendyOlsen" TargetMode="External"/><Relationship Id="rId5" Type="http://schemas.openxmlformats.org/officeDocument/2006/relationships/hyperlink" Target="mailto:wendy.olsen@ons.gov.uk" TargetMode="External"/><Relationship Id="rId4" Type="http://schemas.openxmlformats.org/officeDocument/2006/relationships/hyperlink" Target="https://xlsxwriter.readthedocs.io/tutorial01.html"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s://wesmckinney.com/book" TargetMode="External"/><Relationship Id="rId2" Type="http://schemas.openxmlformats.org/officeDocument/2006/relationships/hyperlink" Target="https://www.oreilly.com/library/view/spark-the-definitive/9781491912201/" TargetMode="External"/><Relationship Id="rId1" Type="http://schemas.openxmlformats.org/officeDocument/2006/relationships/slideLayout" Target="../slideLayouts/slideLayout2.xml"/><Relationship Id="rId6" Type="http://schemas.openxmlformats.org/officeDocument/2006/relationships/hyperlink" Target="https://www.datacamp.com/courses/intro-to-python-for-data-science" TargetMode="External"/><Relationship Id="rId5" Type="http://schemas.openxmlformats.org/officeDocument/2006/relationships/hyperlink" Target="https://learnpythonthehardway.org/" TargetMode="External"/><Relationship Id="rId4" Type="http://schemas.openxmlformats.org/officeDocument/2006/relationships/hyperlink" Target="https://www.informit.com/store/learn-python-the-hard-way-9780138270575"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4B4F2-512A-43A1-B8B6-9220CD082AF9}"/>
              </a:ext>
            </a:extLst>
          </p:cNvPr>
          <p:cNvSpPr>
            <a:spLocks noGrp="1"/>
          </p:cNvSpPr>
          <p:nvPr>
            <p:ph type="ctrTitle"/>
          </p:nvPr>
        </p:nvSpPr>
        <p:spPr/>
        <p:txBody>
          <a:bodyPr/>
          <a:lstStyle/>
          <a:p>
            <a:r>
              <a:rPr lang="en-GB" dirty="0">
                <a:latin typeface="Arial" panose="020B0604020202020204" pitchFamily="34" charset="0"/>
                <a:cs typeface="Arial" panose="020B0604020202020204" pitchFamily="34" charset="0"/>
              </a:rPr>
              <a:t>Python Workshop 1 Demonstration</a:t>
            </a:r>
          </a:p>
        </p:txBody>
      </p:sp>
      <p:sp>
        <p:nvSpPr>
          <p:cNvPr id="3" name="Subtitle 2">
            <a:extLst>
              <a:ext uri="{FF2B5EF4-FFF2-40B4-BE49-F238E27FC236}">
                <a16:creationId xmlns:a16="http://schemas.microsoft.com/office/drawing/2014/main" id="{129347AD-4CF0-4892-ABFA-467A42BCD4D3}"/>
              </a:ext>
            </a:extLst>
          </p:cNvPr>
          <p:cNvSpPr>
            <a:spLocks noGrp="1"/>
          </p:cNvSpPr>
          <p:nvPr>
            <p:ph type="subTitle" idx="1"/>
          </p:nvPr>
        </p:nvSpPr>
        <p:spPr>
          <a:xfrm>
            <a:off x="1524000" y="3602038"/>
            <a:ext cx="9144000" cy="2614278"/>
          </a:xfrm>
        </p:spPr>
        <p:txBody>
          <a:bodyPr>
            <a:normAutofit/>
          </a:bodyPr>
          <a:lstStyle/>
          <a:p>
            <a:r>
              <a:rPr lang="en-GB" dirty="0">
                <a:latin typeface="Arial" panose="020B0604020202020204" pitchFamily="34" charset="0"/>
                <a:cs typeface="Arial" panose="020B0604020202020204" pitchFamily="34" charset="0"/>
              </a:rPr>
              <a:t>2026 – Wendy Olsen v1.0 </a:t>
            </a:r>
          </a:p>
          <a:p>
            <a:r>
              <a:rPr lang="en-GB" dirty="0">
                <a:latin typeface="Arial" panose="020B0604020202020204" pitchFamily="34" charset="0"/>
                <a:cs typeface="Arial" panose="020B0604020202020204" pitchFamily="34" charset="0"/>
              </a:rPr>
              <a:t>This material is creative commons so if you want to cite it, go ahead.  Don’t copy it without citing it.  You can amend it but still, cite your original source. Thank you so much (in advance). </a:t>
            </a:r>
          </a:p>
          <a:p>
            <a:endParaRPr lang="en-GB" dirty="0">
              <a:latin typeface="Arial" panose="020B0604020202020204" pitchFamily="34" charset="0"/>
              <a:cs typeface="Arial" panose="020B0604020202020204" pitchFamily="34" charset="0"/>
            </a:endParaRPr>
          </a:p>
          <a:p>
            <a:r>
              <a:rPr lang="en-GB" dirty="0">
                <a:latin typeface="Arial" panose="020B0604020202020204" pitchFamily="34" charset="0"/>
                <a:cs typeface="Arial" panose="020B0604020202020204" pitchFamily="34" charset="0"/>
              </a:rPr>
              <a:t>Online location of key documents</a:t>
            </a:r>
          </a:p>
        </p:txBody>
      </p:sp>
    </p:spTree>
    <p:extLst>
      <p:ext uri="{BB962C8B-B14F-4D97-AF65-F5344CB8AC3E}">
        <p14:creationId xmlns:p14="http://schemas.microsoft.com/office/powerpoint/2010/main" val="36530577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629F211-F954-C603-148A-8F1DF524E1EF}"/>
              </a:ext>
            </a:extLst>
          </p:cNvPr>
          <p:cNvPicPr>
            <a:picLocks noChangeAspect="1"/>
          </p:cNvPicPr>
          <p:nvPr/>
        </p:nvPicPr>
        <p:blipFill>
          <a:blip r:embed="rId2"/>
          <a:stretch>
            <a:fillRect/>
          </a:stretch>
        </p:blipFill>
        <p:spPr>
          <a:xfrm>
            <a:off x="0" y="0"/>
            <a:ext cx="5742432" cy="1239012"/>
          </a:xfrm>
          <a:prstGeom prst="rect">
            <a:avLst/>
          </a:prstGeom>
        </p:spPr>
      </p:pic>
      <p:pic>
        <p:nvPicPr>
          <p:cNvPr id="22" name="Picture 21">
            <a:extLst>
              <a:ext uri="{FF2B5EF4-FFF2-40B4-BE49-F238E27FC236}">
                <a16:creationId xmlns:a16="http://schemas.microsoft.com/office/drawing/2014/main" id="{E979E709-2F57-D211-705F-61AE694E76E1}"/>
              </a:ext>
            </a:extLst>
          </p:cNvPr>
          <p:cNvPicPr>
            <a:picLocks noChangeAspect="1"/>
          </p:cNvPicPr>
          <p:nvPr/>
        </p:nvPicPr>
        <p:blipFill>
          <a:blip r:embed="rId3"/>
          <a:stretch>
            <a:fillRect/>
          </a:stretch>
        </p:blipFill>
        <p:spPr>
          <a:xfrm>
            <a:off x="5409184" y="1090675"/>
            <a:ext cx="6782816" cy="5691949"/>
          </a:xfrm>
          <a:prstGeom prst="rect">
            <a:avLst/>
          </a:prstGeom>
        </p:spPr>
      </p:pic>
    </p:spTree>
    <p:extLst>
      <p:ext uri="{BB962C8B-B14F-4D97-AF65-F5344CB8AC3E}">
        <p14:creationId xmlns:p14="http://schemas.microsoft.com/office/powerpoint/2010/main" val="18658966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AF42D-D49F-95A7-11BD-B945C7D6E1D4}"/>
              </a:ext>
            </a:extLst>
          </p:cNvPr>
          <p:cNvSpPr>
            <a:spLocks noGrp="1"/>
          </p:cNvSpPr>
          <p:nvPr>
            <p:ph type="title"/>
          </p:nvPr>
        </p:nvSpPr>
        <p:spPr/>
        <p:txBody>
          <a:bodyPr/>
          <a:lstStyle/>
          <a:p>
            <a:r>
              <a:rPr lang="en-GB" dirty="0"/>
              <a:t>Basic python programming</a:t>
            </a:r>
          </a:p>
        </p:txBody>
      </p:sp>
      <p:graphicFrame>
        <p:nvGraphicFramePr>
          <p:cNvPr id="4" name="Content Placeholder 3">
            <a:extLst>
              <a:ext uri="{FF2B5EF4-FFF2-40B4-BE49-F238E27FC236}">
                <a16:creationId xmlns:a16="http://schemas.microsoft.com/office/drawing/2014/main" id="{C4C0EF0E-A4EF-AA5C-19D4-E2D77D678E58}"/>
              </a:ext>
            </a:extLst>
          </p:cNvPr>
          <p:cNvGraphicFramePr>
            <a:graphicFrameLocks noGrp="1"/>
          </p:cNvGraphicFramePr>
          <p:nvPr>
            <p:ph idx="1"/>
            <p:extLst>
              <p:ext uri="{D42A27DB-BD31-4B8C-83A1-F6EECF244321}">
                <p14:modId xmlns:p14="http://schemas.microsoft.com/office/powerpoint/2010/main" val="2706340916"/>
              </p:ext>
            </p:extLst>
          </p:nvPr>
        </p:nvGraphicFramePr>
        <p:xfrm>
          <a:off x="838200" y="1567238"/>
          <a:ext cx="10515600" cy="1899920"/>
        </p:xfrm>
        <a:graphic>
          <a:graphicData uri="http://schemas.openxmlformats.org/drawingml/2006/table">
            <a:tbl>
              <a:tblPr firstRow="1" bandRow="1">
                <a:tableStyleId>{0660B408-B3CF-4A94-85FC-2B1E0A45F4A2}</a:tableStyleId>
              </a:tblPr>
              <a:tblGrid>
                <a:gridCol w="2103120">
                  <a:extLst>
                    <a:ext uri="{9D8B030D-6E8A-4147-A177-3AD203B41FA5}">
                      <a16:colId xmlns:a16="http://schemas.microsoft.com/office/drawing/2014/main" val="2817916360"/>
                    </a:ext>
                  </a:extLst>
                </a:gridCol>
                <a:gridCol w="2103120">
                  <a:extLst>
                    <a:ext uri="{9D8B030D-6E8A-4147-A177-3AD203B41FA5}">
                      <a16:colId xmlns:a16="http://schemas.microsoft.com/office/drawing/2014/main" val="4223244255"/>
                    </a:ext>
                  </a:extLst>
                </a:gridCol>
                <a:gridCol w="2103120">
                  <a:extLst>
                    <a:ext uri="{9D8B030D-6E8A-4147-A177-3AD203B41FA5}">
                      <a16:colId xmlns:a16="http://schemas.microsoft.com/office/drawing/2014/main" val="2860763663"/>
                    </a:ext>
                  </a:extLst>
                </a:gridCol>
                <a:gridCol w="2103120">
                  <a:extLst>
                    <a:ext uri="{9D8B030D-6E8A-4147-A177-3AD203B41FA5}">
                      <a16:colId xmlns:a16="http://schemas.microsoft.com/office/drawing/2014/main" val="3968901518"/>
                    </a:ext>
                  </a:extLst>
                </a:gridCol>
                <a:gridCol w="2103120">
                  <a:extLst>
                    <a:ext uri="{9D8B030D-6E8A-4147-A177-3AD203B41FA5}">
                      <a16:colId xmlns:a16="http://schemas.microsoft.com/office/drawing/2014/main" val="956755068"/>
                    </a:ext>
                  </a:extLst>
                </a:gridCol>
              </a:tblGrid>
              <a:tr h="370840">
                <a:tc>
                  <a:txBody>
                    <a:bodyPr/>
                    <a:lstStyle/>
                    <a:p>
                      <a:r>
                        <a:rPr lang="en-GB" dirty="0"/>
                        <a:t>Input</a:t>
                      </a:r>
                    </a:p>
                    <a:p>
                      <a:endParaRPr lang="en-GB" dirty="0"/>
                    </a:p>
                  </a:txBody>
                  <a:tcPr/>
                </a:tc>
                <a:tc>
                  <a:txBody>
                    <a:bodyPr/>
                    <a:lstStyle/>
                    <a:p>
                      <a:r>
                        <a:rPr lang="en-GB" dirty="0"/>
                        <a:t>Method()</a:t>
                      </a:r>
                    </a:p>
                  </a:txBody>
                  <a:tcPr/>
                </a:tc>
                <a:tc>
                  <a:txBody>
                    <a:bodyPr/>
                    <a:lstStyle/>
                    <a:p>
                      <a:r>
                        <a:rPr lang="en-GB" dirty="0"/>
                        <a:t>Function</a:t>
                      </a:r>
                    </a:p>
                  </a:txBody>
                  <a:tcPr/>
                </a:tc>
                <a:tc>
                  <a:txBody>
                    <a:bodyPr/>
                    <a:lstStyle/>
                    <a:p>
                      <a:r>
                        <a:rPr lang="en-GB" dirty="0"/>
                        <a:t>A type of entity</a:t>
                      </a:r>
                    </a:p>
                  </a:txBody>
                  <a:tcPr/>
                </a:tc>
                <a:tc>
                  <a:txBody>
                    <a:bodyPr/>
                    <a:lstStyle/>
                    <a:p>
                      <a:r>
                        <a:rPr lang="en-GB" dirty="0"/>
                        <a:t>Put it together</a:t>
                      </a:r>
                    </a:p>
                  </a:txBody>
                  <a:tcPr/>
                </a:tc>
                <a:extLst>
                  <a:ext uri="{0D108BD9-81ED-4DB2-BD59-A6C34878D82A}">
                    <a16:rowId xmlns:a16="http://schemas.microsoft.com/office/drawing/2014/main" val="2673838624"/>
                  </a:ext>
                </a:extLst>
              </a:tr>
              <a:tr h="370840">
                <a:tc>
                  <a:txBody>
                    <a:bodyPr/>
                    <a:lstStyle/>
                    <a:p>
                      <a:r>
                        <a:rPr lang="en-GB" dirty="0"/>
                        <a:t>Read…</a:t>
                      </a:r>
                    </a:p>
                  </a:txBody>
                  <a:tcPr/>
                </a:tc>
                <a:tc>
                  <a:txBody>
                    <a:bodyPr/>
                    <a:lstStyle/>
                    <a:p>
                      <a:r>
                        <a:rPr lang="en-GB" dirty="0" err="1"/>
                        <a:t>Sort_values</a:t>
                      </a:r>
                      <a:r>
                        <a:rPr lang="en-GB" dirty="0"/>
                        <a:t>()</a:t>
                      </a:r>
                    </a:p>
                  </a:txBody>
                  <a:tcPr/>
                </a:tc>
                <a:tc>
                  <a:txBody>
                    <a:bodyPr/>
                    <a:lstStyle/>
                    <a:p>
                      <a:endParaRPr lang="en-GB" sz="1400" i="1" dirty="0"/>
                    </a:p>
                  </a:txBody>
                  <a:tcPr/>
                </a:tc>
                <a:tc>
                  <a:txBody>
                    <a:bodyPr/>
                    <a:lstStyle/>
                    <a:p>
                      <a:r>
                        <a:rPr lang="en-GB" dirty="0"/>
                        <a:t>Tuple;    list;</a:t>
                      </a:r>
                    </a:p>
                  </a:txBody>
                  <a:tcPr/>
                </a:tc>
                <a:tc>
                  <a:txBody>
                    <a:bodyPr/>
                    <a:lstStyle/>
                    <a:p>
                      <a:r>
                        <a:rPr lang="en-GB" i="1" dirty="0"/>
                        <a:t>See program.</a:t>
                      </a:r>
                    </a:p>
                  </a:txBody>
                  <a:tcPr/>
                </a:tc>
                <a:extLst>
                  <a:ext uri="{0D108BD9-81ED-4DB2-BD59-A6C34878D82A}">
                    <a16:rowId xmlns:a16="http://schemas.microsoft.com/office/drawing/2014/main" val="1497284269"/>
                  </a:ext>
                </a:extLst>
              </a:tr>
              <a:tr h="370840">
                <a:tc>
                  <a:txBody>
                    <a:bodyPr/>
                    <a:lstStyle/>
                    <a:p>
                      <a:endParaRPr lang="en-GB" dirty="0"/>
                    </a:p>
                  </a:txBody>
                  <a:tcPr/>
                </a:tc>
                <a:tc>
                  <a:txBody>
                    <a:bodyPr/>
                    <a:lstStyle/>
                    <a:p>
                      <a:endParaRPr lang="en-GB" dirty="0"/>
                    </a:p>
                  </a:txBody>
                  <a:tcPr/>
                </a:tc>
                <a:tc>
                  <a:txBody>
                    <a:bodyPr/>
                    <a:lstStyle/>
                    <a:p>
                      <a:r>
                        <a:rPr lang="en-GB" sz="1400" i="1" dirty="0"/>
                        <a:t>Can be user-defined</a:t>
                      </a:r>
                    </a:p>
                  </a:txBody>
                  <a:tcPr/>
                </a:tc>
                <a:tc>
                  <a:txBody>
                    <a:bodyPr/>
                    <a:lstStyle/>
                    <a:p>
                      <a:r>
                        <a:rPr lang="en-GB" dirty="0" err="1"/>
                        <a:t>Dataframe</a:t>
                      </a:r>
                      <a:r>
                        <a:rPr lang="en-GB" dirty="0"/>
                        <a:t>;</a:t>
                      </a:r>
                    </a:p>
                  </a:txBody>
                  <a:tcPr/>
                </a:tc>
                <a:tc>
                  <a:txBody>
                    <a:bodyPr/>
                    <a:lstStyle/>
                    <a:p>
                      <a:r>
                        <a:rPr lang="en-GB" sz="1400" i="1" dirty="0"/>
                        <a:t>The sample code is about</a:t>
                      </a:r>
                    </a:p>
                  </a:txBody>
                  <a:tcPr/>
                </a:tc>
                <a:extLst>
                  <a:ext uri="{0D108BD9-81ED-4DB2-BD59-A6C34878D82A}">
                    <a16:rowId xmlns:a16="http://schemas.microsoft.com/office/drawing/2014/main" val="2259916097"/>
                  </a:ext>
                </a:extLst>
              </a:tr>
              <a:tr h="370840">
                <a:tc>
                  <a:txBody>
                    <a:bodyPr/>
                    <a:lstStyle/>
                    <a:p>
                      <a:endParaRPr lang="en-GB" dirty="0"/>
                    </a:p>
                  </a:txBody>
                  <a:tcPr/>
                </a:tc>
                <a:tc>
                  <a:txBody>
                    <a:bodyPr/>
                    <a:lstStyle/>
                    <a:p>
                      <a:endParaRPr lang="en-GB" dirty="0"/>
                    </a:p>
                  </a:txBody>
                  <a:tcPr/>
                </a:tc>
                <a:tc>
                  <a:txBody>
                    <a:bodyPr/>
                    <a:lstStyle/>
                    <a:p>
                      <a:r>
                        <a:rPr lang="en-GB" sz="1400" i="1" dirty="0"/>
                        <a:t>Can have default parameters</a:t>
                      </a:r>
                    </a:p>
                  </a:txBody>
                  <a:tcPr/>
                </a:tc>
                <a:tc>
                  <a:txBody>
                    <a:bodyPr/>
                    <a:lstStyle/>
                    <a:p>
                      <a:r>
                        <a:rPr lang="en-GB" dirty="0"/>
                        <a:t>Array</a:t>
                      </a:r>
                    </a:p>
                  </a:txBody>
                  <a:tcPr/>
                </a:tc>
                <a:tc>
                  <a:txBody>
                    <a:bodyPr/>
                    <a:lstStyle/>
                    <a:p>
                      <a:r>
                        <a:rPr lang="en-GB" sz="1400" i="1" dirty="0"/>
                        <a:t>Population.</a:t>
                      </a:r>
                    </a:p>
                  </a:txBody>
                  <a:tcPr/>
                </a:tc>
                <a:extLst>
                  <a:ext uri="{0D108BD9-81ED-4DB2-BD59-A6C34878D82A}">
                    <a16:rowId xmlns:a16="http://schemas.microsoft.com/office/drawing/2014/main" val="3421189276"/>
                  </a:ext>
                </a:extLst>
              </a:tr>
            </a:tbl>
          </a:graphicData>
        </a:graphic>
      </p:graphicFrame>
      <p:sp>
        <p:nvSpPr>
          <p:cNvPr id="5" name="Scroll: Horizontal 4">
            <a:extLst>
              <a:ext uri="{FF2B5EF4-FFF2-40B4-BE49-F238E27FC236}">
                <a16:creationId xmlns:a16="http://schemas.microsoft.com/office/drawing/2014/main" id="{8411B1F9-D165-8178-1443-8B5C09E99B60}"/>
              </a:ext>
            </a:extLst>
          </p:cNvPr>
          <p:cNvSpPr/>
          <p:nvPr/>
        </p:nvSpPr>
        <p:spPr>
          <a:xfrm>
            <a:off x="7595936" y="5069306"/>
            <a:ext cx="4371473" cy="2130468"/>
          </a:xfrm>
          <a:prstGeom prst="horizontalScroll">
            <a:avLst/>
          </a:prstGeom>
          <a:solidFill>
            <a:schemeClr val="accent1">
              <a:lumMod val="20000"/>
              <a:lumOff val="8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Selawik Semibold" panose="020B0702040204020203" pitchFamily="34" charset="0"/>
              </a:rPr>
              <a:t>Help is at hand!  See Zed Shaw’s book</a:t>
            </a:r>
          </a:p>
          <a:p>
            <a:pPr algn="ctr"/>
            <a:r>
              <a:rPr lang="en-GB" dirty="0">
                <a:solidFill>
                  <a:schemeClr val="tx1"/>
                </a:solidFill>
                <a:latin typeface="Selawik Semibold" panose="020B0702040204020203" pitchFamily="34" charset="0"/>
              </a:rPr>
              <a:t>(online $ 29 )  </a:t>
            </a:r>
          </a:p>
          <a:p>
            <a:pPr algn="ctr"/>
            <a:r>
              <a:rPr lang="en-GB" sz="1100" dirty="0">
                <a:solidFill>
                  <a:schemeClr val="tx1"/>
                </a:solidFill>
                <a:latin typeface="Selawik Semibold" panose="020B0702040204020203" pitchFamily="34" charset="0"/>
              </a:rPr>
              <a:t>URL </a:t>
            </a:r>
            <a:r>
              <a:rPr lang="en-GB" sz="1100" dirty="0">
                <a:solidFill>
                  <a:schemeClr val="tx1"/>
                </a:solidFill>
                <a:latin typeface="Selawik Semibold" panose="020B0702040204020203" pitchFamily="34" charset="0"/>
                <a:hlinkClick r:id="rId2">
                  <a:extLst>
                    <a:ext uri="{A12FA001-AC4F-418D-AE19-62706E023703}">
                      <ahyp:hlinkClr xmlns:ahyp="http://schemas.microsoft.com/office/drawing/2018/hyperlinkcolor" val="tx"/>
                    </a:ext>
                  </a:extLst>
                </a:hlinkClick>
              </a:rPr>
              <a:t>Learn Python the Hard Way</a:t>
            </a:r>
            <a:r>
              <a:rPr lang="en-GB" sz="1100" dirty="0">
                <a:solidFill>
                  <a:schemeClr val="tx1"/>
                </a:solidFill>
                <a:latin typeface="Selawik Semibold" panose="020B0702040204020203" pitchFamily="34" charset="0"/>
              </a:rPr>
              <a:t> </a:t>
            </a:r>
          </a:p>
          <a:p>
            <a:pPr algn="ctr"/>
            <a:r>
              <a:rPr lang="en-GB" sz="1100" dirty="0">
                <a:solidFill>
                  <a:schemeClr val="tx1"/>
                </a:solidFill>
                <a:latin typeface="Selawik Semibold" panose="020B0702040204020203" pitchFamily="34" charset="0"/>
              </a:rPr>
              <a:t>Buy this at a used bookshop URL https://www.abebooks.co.uk/</a:t>
            </a:r>
          </a:p>
        </p:txBody>
      </p:sp>
      <p:graphicFrame>
        <p:nvGraphicFramePr>
          <p:cNvPr id="6" name="Content Placeholder 3">
            <a:extLst>
              <a:ext uri="{FF2B5EF4-FFF2-40B4-BE49-F238E27FC236}">
                <a16:creationId xmlns:a16="http://schemas.microsoft.com/office/drawing/2014/main" id="{975D71BC-DB70-3546-BAC6-5F0FDE29E0BE}"/>
              </a:ext>
            </a:extLst>
          </p:cNvPr>
          <p:cNvGraphicFramePr>
            <a:graphicFrameLocks/>
          </p:cNvGraphicFramePr>
          <p:nvPr>
            <p:extLst>
              <p:ext uri="{D42A27DB-BD31-4B8C-83A1-F6EECF244321}">
                <p14:modId xmlns:p14="http://schemas.microsoft.com/office/powerpoint/2010/main" val="2637349775"/>
              </p:ext>
            </p:extLst>
          </p:nvPr>
        </p:nvGraphicFramePr>
        <p:xfrm>
          <a:off x="224591" y="3637548"/>
          <a:ext cx="10515600" cy="1752600"/>
        </p:xfrm>
        <a:graphic>
          <a:graphicData uri="http://schemas.openxmlformats.org/drawingml/2006/table">
            <a:tbl>
              <a:tblPr firstRow="1" bandRow="1">
                <a:tableStyleId>{0660B408-B3CF-4A94-85FC-2B1E0A45F4A2}</a:tableStyleId>
              </a:tblPr>
              <a:tblGrid>
                <a:gridCol w="2103120">
                  <a:extLst>
                    <a:ext uri="{9D8B030D-6E8A-4147-A177-3AD203B41FA5}">
                      <a16:colId xmlns:a16="http://schemas.microsoft.com/office/drawing/2014/main" val="2817916360"/>
                    </a:ext>
                  </a:extLst>
                </a:gridCol>
                <a:gridCol w="2103120">
                  <a:extLst>
                    <a:ext uri="{9D8B030D-6E8A-4147-A177-3AD203B41FA5}">
                      <a16:colId xmlns:a16="http://schemas.microsoft.com/office/drawing/2014/main" val="4223244255"/>
                    </a:ext>
                  </a:extLst>
                </a:gridCol>
                <a:gridCol w="2103120">
                  <a:extLst>
                    <a:ext uri="{9D8B030D-6E8A-4147-A177-3AD203B41FA5}">
                      <a16:colId xmlns:a16="http://schemas.microsoft.com/office/drawing/2014/main" val="2860763663"/>
                    </a:ext>
                  </a:extLst>
                </a:gridCol>
                <a:gridCol w="2103120">
                  <a:extLst>
                    <a:ext uri="{9D8B030D-6E8A-4147-A177-3AD203B41FA5}">
                      <a16:colId xmlns:a16="http://schemas.microsoft.com/office/drawing/2014/main" val="3968901518"/>
                    </a:ext>
                  </a:extLst>
                </a:gridCol>
                <a:gridCol w="2103120">
                  <a:extLst>
                    <a:ext uri="{9D8B030D-6E8A-4147-A177-3AD203B41FA5}">
                      <a16:colId xmlns:a16="http://schemas.microsoft.com/office/drawing/2014/main" val="956755068"/>
                    </a:ext>
                  </a:extLst>
                </a:gridCol>
              </a:tblGrid>
              <a:tr h="370840">
                <a:tc>
                  <a:txBody>
                    <a:bodyPr/>
                    <a:lstStyle/>
                    <a:p>
                      <a:r>
                        <a:rPr lang="en-GB" dirty="0"/>
                        <a:t>print</a:t>
                      </a:r>
                    </a:p>
                    <a:p>
                      <a:endParaRPr lang="en-GB" dirty="0"/>
                    </a:p>
                  </a:txBody>
                  <a:tcPr/>
                </a:tc>
                <a:tc>
                  <a:txBody>
                    <a:bodyPr/>
                    <a:lstStyle/>
                    <a:p>
                      <a:r>
                        <a:rPr lang="en-GB" dirty="0"/>
                        <a:t>Display</a:t>
                      </a:r>
                    </a:p>
                  </a:txBody>
                  <a:tcPr/>
                </a:tc>
                <a:tc>
                  <a:txBody>
                    <a:bodyPr/>
                    <a:lstStyle/>
                    <a:p>
                      <a:r>
                        <a:rPr lang="en-GB" dirty="0"/>
                        <a:t>[entity name]</a:t>
                      </a:r>
                    </a:p>
                  </a:txBody>
                  <a:tcPr/>
                </a:tc>
                <a:tc>
                  <a:txBody>
                    <a:bodyPr/>
                    <a:lstStyle/>
                    <a:p>
                      <a:r>
                        <a:rPr lang="en-GB" dirty="0"/>
                        <a:t>File type csv output</a:t>
                      </a:r>
                    </a:p>
                  </a:txBody>
                  <a:tcPr/>
                </a:tc>
                <a:tc>
                  <a:txBody>
                    <a:bodyPr/>
                    <a:lstStyle/>
                    <a:p>
                      <a:r>
                        <a:rPr lang="en-GB" dirty="0"/>
                        <a:t>Image .</a:t>
                      </a:r>
                      <a:r>
                        <a:rPr lang="en-GB" dirty="0" err="1"/>
                        <a:t>png</a:t>
                      </a:r>
                      <a:r>
                        <a:rPr lang="en-GB" dirty="0"/>
                        <a:t> output</a:t>
                      </a:r>
                    </a:p>
                  </a:txBody>
                  <a:tcPr/>
                </a:tc>
                <a:extLst>
                  <a:ext uri="{0D108BD9-81ED-4DB2-BD59-A6C34878D82A}">
                    <a16:rowId xmlns:a16="http://schemas.microsoft.com/office/drawing/2014/main" val="2673838624"/>
                  </a:ext>
                </a:extLst>
              </a:tr>
              <a:tr h="370840">
                <a:tc>
                  <a:txBody>
                    <a:bodyPr/>
                    <a:lstStyle/>
                    <a:p>
                      <a:r>
                        <a:rPr lang="en-GB" dirty="0">
                          <a:highlight>
                            <a:srgbClr val="FFFF00"/>
                          </a:highlight>
                        </a:rPr>
                        <a:t>Print(</a:t>
                      </a:r>
                      <a:r>
                        <a:rPr lang="en-GB" dirty="0" err="1">
                          <a:highlight>
                            <a:srgbClr val="FFFF00"/>
                          </a:highlight>
                        </a:rPr>
                        <a:t>mydata</a:t>
                      </a:r>
                      <a:r>
                        <a:rPr lang="en-GB" dirty="0">
                          <a:highlight>
                            <a:srgbClr val="FFFF00"/>
                          </a:highlight>
                        </a:rPr>
                        <a:t>)</a:t>
                      </a:r>
                    </a:p>
                  </a:txBody>
                  <a:tcPr/>
                </a:tc>
                <a:tc>
                  <a:txBody>
                    <a:bodyPr/>
                    <a:lstStyle/>
                    <a:p>
                      <a:r>
                        <a:rPr lang="en-GB" dirty="0">
                          <a:highlight>
                            <a:srgbClr val="FFFF00"/>
                          </a:highlight>
                        </a:rPr>
                        <a:t>Display(</a:t>
                      </a:r>
                      <a:r>
                        <a:rPr lang="en-GB" dirty="0" err="1">
                          <a:highlight>
                            <a:srgbClr val="FFFF00"/>
                          </a:highlight>
                        </a:rPr>
                        <a:t>mydata</a:t>
                      </a:r>
                      <a:r>
                        <a:rPr lang="en-GB" dirty="0">
                          <a:highlight>
                            <a:srgbClr val="FFFF00"/>
                          </a:highlight>
                        </a:rPr>
                        <a:t>)</a:t>
                      </a:r>
                    </a:p>
                  </a:txBody>
                  <a:tcPr/>
                </a:tc>
                <a:tc>
                  <a:txBody>
                    <a:bodyPr/>
                    <a:lstStyle/>
                    <a:p>
                      <a:r>
                        <a:rPr lang="en-GB" dirty="0" err="1">
                          <a:highlight>
                            <a:srgbClr val="FFFF00"/>
                          </a:highlight>
                        </a:rPr>
                        <a:t>mydata</a:t>
                      </a:r>
                      <a:endParaRPr lang="en-GB" dirty="0">
                        <a:highlight>
                          <a:srgbClr val="FFFF00"/>
                        </a:highlight>
                      </a:endParaRPr>
                    </a:p>
                  </a:txBody>
                  <a:tcPr/>
                </a:tc>
                <a:tc>
                  <a:txBody>
                    <a:bodyPr/>
                    <a:lstStyle/>
                    <a:p>
                      <a:r>
                        <a:rPr lang="en-GB" dirty="0" err="1">
                          <a:highlight>
                            <a:srgbClr val="FF00FF"/>
                          </a:highlight>
                        </a:rPr>
                        <a:t>Write_csv</a:t>
                      </a:r>
                      <a:r>
                        <a:rPr lang="en-GB" dirty="0">
                          <a:highlight>
                            <a:srgbClr val="FF00FF"/>
                          </a:highlight>
                        </a:rPr>
                        <a:t>(</a:t>
                      </a:r>
                      <a:r>
                        <a:rPr lang="en-GB" dirty="0" err="1">
                          <a:highlight>
                            <a:srgbClr val="FF00FF"/>
                          </a:highlight>
                        </a:rPr>
                        <a:t>mydata</a:t>
                      </a:r>
                      <a:r>
                        <a:rPr lang="en-GB" sz="1200" dirty="0">
                          <a:highlight>
                            <a:srgbClr val="FF00FF"/>
                          </a:highlight>
                        </a:rPr>
                        <a:t>.,,,)</a:t>
                      </a:r>
                      <a:endParaRPr lang="en-GB" dirty="0">
                        <a:highlight>
                          <a:srgbClr val="FF00FF"/>
                        </a:highlight>
                      </a:endParaRPr>
                    </a:p>
                  </a:txBody>
                  <a:tcPr/>
                </a:tc>
                <a:tc>
                  <a:txBody>
                    <a:bodyPr/>
                    <a:lstStyle/>
                    <a:p>
                      <a:r>
                        <a:rPr lang="en-GB" b="1" i="1" dirty="0">
                          <a:highlight>
                            <a:srgbClr val="FF00FF"/>
                          </a:highlight>
                        </a:rPr>
                        <a:t>First, make a graph</a:t>
                      </a:r>
                    </a:p>
                  </a:txBody>
                  <a:tcPr/>
                </a:tc>
                <a:extLst>
                  <a:ext uri="{0D108BD9-81ED-4DB2-BD59-A6C34878D82A}">
                    <a16:rowId xmlns:a16="http://schemas.microsoft.com/office/drawing/2014/main" val="1497284269"/>
                  </a:ext>
                </a:extLst>
              </a:tr>
              <a:tr h="370840">
                <a:tc>
                  <a:txBody>
                    <a:bodyPr/>
                    <a:lstStyle/>
                    <a:p>
                      <a:endParaRPr lang="en-GB" dirty="0"/>
                    </a:p>
                  </a:txBody>
                  <a:tcPr/>
                </a:tc>
                <a:tc>
                  <a:txBody>
                    <a:bodyPr/>
                    <a:lstStyle/>
                    <a:p>
                      <a:endParaRPr lang="en-GB" dirty="0"/>
                    </a:p>
                  </a:txBody>
                  <a:tcPr/>
                </a:tc>
                <a:tc>
                  <a:txBody>
                    <a:bodyPr/>
                    <a:lstStyle/>
                    <a:p>
                      <a:endParaRPr lang="en-GB" dirty="0"/>
                    </a:p>
                  </a:txBody>
                  <a:tcPr/>
                </a:tc>
                <a:tc>
                  <a:txBody>
                    <a:bodyPr/>
                    <a:lstStyle/>
                    <a:p>
                      <a:endParaRPr lang="en-GB" dirty="0"/>
                    </a:p>
                  </a:txBody>
                  <a:tcPr/>
                </a:tc>
                <a:tc>
                  <a:txBody>
                    <a:bodyPr/>
                    <a:lstStyle/>
                    <a:p>
                      <a:endParaRPr lang="en-GB" dirty="0"/>
                    </a:p>
                  </a:txBody>
                  <a:tcPr/>
                </a:tc>
                <a:extLst>
                  <a:ext uri="{0D108BD9-81ED-4DB2-BD59-A6C34878D82A}">
                    <a16:rowId xmlns:a16="http://schemas.microsoft.com/office/drawing/2014/main" val="2259916097"/>
                  </a:ext>
                </a:extLst>
              </a:tr>
              <a:tr h="370840">
                <a:tc>
                  <a:txBody>
                    <a:bodyPr/>
                    <a:lstStyle/>
                    <a:p>
                      <a:endParaRPr lang="en-GB" dirty="0"/>
                    </a:p>
                  </a:txBody>
                  <a:tcPr/>
                </a:tc>
                <a:tc>
                  <a:txBody>
                    <a:bodyPr/>
                    <a:lstStyle/>
                    <a:p>
                      <a:endParaRPr lang="en-GB" dirty="0"/>
                    </a:p>
                  </a:txBody>
                  <a:tcPr/>
                </a:tc>
                <a:tc>
                  <a:txBody>
                    <a:bodyPr/>
                    <a:lstStyle/>
                    <a:p>
                      <a:endParaRPr lang="en-GB" dirty="0"/>
                    </a:p>
                  </a:txBody>
                  <a:tcPr/>
                </a:tc>
                <a:tc>
                  <a:txBody>
                    <a:bodyPr/>
                    <a:lstStyle/>
                    <a:p>
                      <a:endParaRPr lang="en-GB" dirty="0"/>
                    </a:p>
                  </a:txBody>
                  <a:tcPr/>
                </a:tc>
                <a:tc>
                  <a:txBody>
                    <a:bodyPr/>
                    <a:lstStyle/>
                    <a:p>
                      <a:endParaRPr lang="en-GB" dirty="0"/>
                    </a:p>
                  </a:txBody>
                  <a:tcPr/>
                </a:tc>
                <a:extLst>
                  <a:ext uri="{0D108BD9-81ED-4DB2-BD59-A6C34878D82A}">
                    <a16:rowId xmlns:a16="http://schemas.microsoft.com/office/drawing/2014/main" val="3421189276"/>
                  </a:ext>
                </a:extLst>
              </a:tr>
            </a:tbl>
          </a:graphicData>
        </a:graphic>
      </p:graphicFrame>
    </p:spTree>
    <p:extLst>
      <p:ext uri="{BB962C8B-B14F-4D97-AF65-F5344CB8AC3E}">
        <p14:creationId xmlns:p14="http://schemas.microsoft.com/office/powerpoint/2010/main" val="15164846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B321EF-5148-A08C-CABF-4469A13BFF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71B1E5-89C5-CCDE-E38E-D5F899427225}"/>
              </a:ext>
            </a:extLst>
          </p:cNvPr>
          <p:cNvSpPr>
            <a:spLocks noGrp="1"/>
          </p:cNvSpPr>
          <p:nvPr>
            <p:ph type="title"/>
          </p:nvPr>
        </p:nvSpPr>
        <p:spPr/>
        <p:txBody>
          <a:bodyPr/>
          <a:lstStyle/>
          <a:p>
            <a:r>
              <a:rPr lang="en-GB" dirty="0"/>
              <a:t>Four kinds of loops and where to get help with writing computer code</a:t>
            </a:r>
          </a:p>
        </p:txBody>
      </p:sp>
      <p:graphicFrame>
        <p:nvGraphicFramePr>
          <p:cNvPr id="4" name="Content Placeholder 3">
            <a:extLst>
              <a:ext uri="{FF2B5EF4-FFF2-40B4-BE49-F238E27FC236}">
                <a16:creationId xmlns:a16="http://schemas.microsoft.com/office/drawing/2014/main" id="{613C302A-C7C5-75AB-136B-50DA67618642}"/>
              </a:ext>
            </a:extLst>
          </p:cNvPr>
          <p:cNvGraphicFramePr>
            <a:graphicFrameLocks noGrp="1"/>
          </p:cNvGraphicFramePr>
          <p:nvPr>
            <p:ph idx="1"/>
          </p:nvPr>
        </p:nvGraphicFramePr>
        <p:xfrm>
          <a:off x="838200" y="1825625"/>
          <a:ext cx="10515600" cy="5852160"/>
        </p:xfrm>
        <a:graphic>
          <a:graphicData uri="http://schemas.openxmlformats.org/drawingml/2006/table">
            <a:tbl>
              <a:tblPr firstRow="1" bandRow="1">
                <a:tableStyleId>{0660B408-B3CF-4A94-85FC-2B1E0A45F4A2}</a:tableStyleId>
              </a:tblPr>
              <a:tblGrid>
                <a:gridCol w="2103120">
                  <a:extLst>
                    <a:ext uri="{9D8B030D-6E8A-4147-A177-3AD203B41FA5}">
                      <a16:colId xmlns:a16="http://schemas.microsoft.com/office/drawing/2014/main" val="2817916360"/>
                    </a:ext>
                  </a:extLst>
                </a:gridCol>
                <a:gridCol w="2103120">
                  <a:extLst>
                    <a:ext uri="{9D8B030D-6E8A-4147-A177-3AD203B41FA5}">
                      <a16:colId xmlns:a16="http://schemas.microsoft.com/office/drawing/2014/main" val="4223244255"/>
                    </a:ext>
                  </a:extLst>
                </a:gridCol>
                <a:gridCol w="2103120">
                  <a:extLst>
                    <a:ext uri="{9D8B030D-6E8A-4147-A177-3AD203B41FA5}">
                      <a16:colId xmlns:a16="http://schemas.microsoft.com/office/drawing/2014/main" val="2860763663"/>
                    </a:ext>
                  </a:extLst>
                </a:gridCol>
                <a:gridCol w="2103120">
                  <a:extLst>
                    <a:ext uri="{9D8B030D-6E8A-4147-A177-3AD203B41FA5}">
                      <a16:colId xmlns:a16="http://schemas.microsoft.com/office/drawing/2014/main" val="3968901518"/>
                    </a:ext>
                  </a:extLst>
                </a:gridCol>
                <a:gridCol w="2103120">
                  <a:extLst>
                    <a:ext uri="{9D8B030D-6E8A-4147-A177-3AD203B41FA5}">
                      <a16:colId xmlns:a16="http://schemas.microsoft.com/office/drawing/2014/main" val="956755068"/>
                    </a:ext>
                  </a:extLst>
                </a:gridCol>
              </a:tblGrid>
              <a:tr h="370840">
                <a:tc>
                  <a:txBody>
                    <a:bodyPr/>
                    <a:lstStyle/>
                    <a:p>
                      <a:r>
                        <a:rPr lang="en-GB" dirty="0"/>
                        <a:t>If loops</a:t>
                      </a:r>
                    </a:p>
                  </a:txBody>
                  <a:tcPr/>
                </a:tc>
                <a:tc>
                  <a:txBody>
                    <a:bodyPr/>
                    <a:lstStyle/>
                    <a:p>
                      <a:r>
                        <a:rPr lang="en-GB" dirty="0"/>
                        <a:t>For loops</a:t>
                      </a:r>
                    </a:p>
                  </a:txBody>
                  <a:tcPr/>
                </a:tc>
                <a:tc>
                  <a:txBody>
                    <a:bodyPr/>
                    <a:lstStyle/>
                    <a:p>
                      <a:r>
                        <a:rPr lang="en-GB" dirty="0"/>
                        <a:t>While loops</a:t>
                      </a:r>
                    </a:p>
                  </a:txBody>
                  <a:tcPr/>
                </a:tc>
                <a:tc>
                  <a:txBody>
                    <a:bodyPr/>
                    <a:lstStyle/>
                    <a:p>
                      <a:r>
                        <a:rPr lang="en-GB" dirty="0"/>
                        <a:t>Iterative use of object</a:t>
                      </a:r>
                    </a:p>
                  </a:txBody>
                  <a:tcPr/>
                </a:tc>
                <a:tc>
                  <a:txBody>
                    <a:bodyPr/>
                    <a:lstStyle/>
                    <a:p>
                      <a:r>
                        <a:rPr lang="en-GB" dirty="0"/>
                        <a:t>Iterative Function, </a:t>
                      </a:r>
                      <a:r>
                        <a:rPr lang="en-GB" dirty="0" err="1"/>
                        <a:t>ie</a:t>
                      </a:r>
                      <a:r>
                        <a:rPr lang="en-GB" dirty="0"/>
                        <a:t> a function embedded in a for loop for example</a:t>
                      </a:r>
                    </a:p>
                  </a:txBody>
                  <a:tcPr/>
                </a:tc>
                <a:extLst>
                  <a:ext uri="{0D108BD9-81ED-4DB2-BD59-A6C34878D82A}">
                    <a16:rowId xmlns:a16="http://schemas.microsoft.com/office/drawing/2014/main" val="2673838624"/>
                  </a:ext>
                </a:extLst>
              </a:tr>
              <a:tr h="370840">
                <a:tc>
                  <a:txBody>
                    <a:bodyPr/>
                    <a:lstStyle/>
                    <a:p>
                      <a:r>
                        <a:rPr lang="en-GB" dirty="0"/>
                        <a:t>If condition:</a:t>
                      </a:r>
                    </a:p>
                    <a:p>
                      <a:r>
                        <a:rPr lang="en-GB" dirty="0"/>
                        <a:t> indent… is python code format.</a:t>
                      </a:r>
                    </a:p>
                  </a:txBody>
                  <a:tcPr/>
                </a:tc>
                <a:tc>
                  <a:txBody>
                    <a:bodyPr/>
                    <a:lstStyle/>
                    <a:p>
                      <a:r>
                        <a:rPr lang="en-GB" dirty="0"/>
                        <a:t>For  condition or term: </a:t>
                      </a:r>
                    </a:p>
                    <a:p>
                      <a:r>
                        <a:rPr lang="en-GB" dirty="0"/>
                        <a:t>Indent   … is python code format.</a:t>
                      </a:r>
                    </a:p>
                  </a:txBody>
                  <a:tcPr/>
                </a:tc>
                <a:tc>
                  <a:txBody>
                    <a:bodyPr/>
                    <a:lstStyle/>
                    <a:p>
                      <a:r>
                        <a:rPr lang="en-GB" dirty="0"/>
                        <a:t>While … action</a:t>
                      </a:r>
                    </a:p>
                    <a:p>
                      <a:endParaRPr lang="en-GB" dirty="0"/>
                    </a:p>
                    <a:p>
                      <a:endParaRPr lang="en-GB" dirty="0"/>
                    </a:p>
                  </a:txBody>
                  <a:tcPr/>
                </a:tc>
                <a:tc>
                  <a:txBody>
                    <a:bodyPr/>
                    <a:lstStyle/>
                    <a:p>
                      <a:r>
                        <a:rPr lang="en-GB" dirty="0"/>
                        <a:t>A.  what is an </a:t>
                      </a:r>
                      <a:r>
                        <a:rPr lang="en-GB" dirty="0" err="1"/>
                        <a:t>iterable</a:t>
                      </a:r>
                      <a:r>
                        <a:rPr lang="en-GB" dirty="0"/>
                        <a:t> object? </a:t>
                      </a:r>
                    </a:p>
                    <a:p>
                      <a:r>
                        <a:rPr lang="en-GB" dirty="0"/>
                        <a:t>Something like a sentence or a word</a:t>
                      </a:r>
                    </a:p>
                  </a:txBody>
                  <a:tcPr/>
                </a:tc>
                <a:tc>
                  <a:txBody>
                    <a:bodyPr/>
                    <a:lstStyle/>
                    <a:p>
                      <a:r>
                        <a:rPr lang="en-GB" dirty="0"/>
                        <a:t>Def </a:t>
                      </a:r>
                      <a:r>
                        <a:rPr lang="en-GB" dirty="0" err="1"/>
                        <a:t>myamends</a:t>
                      </a:r>
                      <a:r>
                        <a:rPr lang="en-GB" dirty="0"/>
                        <a:t>():</a:t>
                      </a:r>
                    </a:p>
                    <a:p>
                      <a:r>
                        <a:rPr lang="en-GB" dirty="0"/>
                        <a:t>    activity 1</a:t>
                      </a:r>
                    </a:p>
                    <a:p>
                      <a:r>
                        <a:rPr lang="en-GB" dirty="0"/>
                        <a:t>    activity 2</a:t>
                      </a:r>
                    </a:p>
                    <a:p>
                      <a:r>
                        <a:rPr lang="en-GB" dirty="0"/>
                        <a:t>    return </a:t>
                      </a:r>
                      <a:r>
                        <a:rPr lang="en-GB" sz="1400" dirty="0" err="1"/>
                        <a:t>amendeddf</a:t>
                      </a:r>
                      <a:endParaRPr lang="en-GB" dirty="0"/>
                    </a:p>
                  </a:txBody>
                  <a:tcPr/>
                </a:tc>
                <a:extLst>
                  <a:ext uri="{0D108BD9-81ED-4DB2-BD59-A6C34878D82A}">
                    <a16:rowId xmlns:a16="http://schemas.microsoft.com/office/drawing/2014/main" val="1497284269"/>
                  </a:ext>
                </a:extLst>
              </a:tr>
              <a:tr h="370840">
                <a:tc>
                  <a:txBody>
                    <a:bodyPr/>
                    <a:lstStyle/>
                    <a:p>
                      <a:endParaRPr lang="en-GB" dirty="0"/>
                    </a:p>
                  </a:txBody>
                  <a:tcPr/>
                </a:tc>
                <a:tc>
                  <a:txBody>
                    <a:bodyPr/>
                    <a:lstStyle/>
                    <a:p>
                      <a:r>
                        <a:rPr lang="en-GB" dirty="0"/>
                        <a:t>You need to avoid the risk of unending looping</a:t>
                      </a:r>
                    </a:p>
                  </a:txBody>
                  <a:tcPr/>
                </a:tc>
                <a:tc>
                  <a:txBody>
                    <a:bodyPr/>
                    <a:lstStyle/>
                    <a:p>
                      <a:r>
                        <a:rPr lang="en-GB" dirty="0"/>
                        <a:t>You need to avoid the risk of unending looping</a:t>
                      </a:r>
                    </a:p>
                  </a:txBody>
                  <a:tcPr/>
                </a:tc>
                <a:tc>
                  <a:txBody>
                    <a:bodyPr/>
                    <a:lstStyle/>
                    <a:p>
                      <a:r>
                        <a:rPr lang="en-GB" dirty="0"/>
                        <a:t>B. What is </a:t>
                      </a:r>
                      <a:r>
                        <a:rPr lang="en-GB" dirty="0" err="1"/>
                        <a:t>itertools</a:t>
                      </a:r>
                      <a:r>
                        <a:rPr lang="en-GB" dirty="0"/>
                        <a:t>? In python, it can easily discover each digit in a number, each letter in a word, or each word in a sentence.</a:t>
                      </a:r>
                    </a:p>
                  </a:txBody>
                  <a:tcPr/>
                </a:tc>
                <a:tc>
                  <a:txBody>
                    <a:bodyPr/>
                    <a:lstStyle/>
                    <a:p>
                      <a:r>
                        <a:rPr lang="en-GB" dirty="0"/>
                        <a:t>Notice above that the indentation is crucial to the defined function.</a:t>
                      </a:r>
                    </a:p>
                    <a:p>
                      <a:endParaRPr lang="en-GB" dirty="0"/>
                    </a:p>
                    <a:p>
                      <a:r>
                        <a:rPr lang="en-GB" dirty="0"/>
                        <a:t>Suppose Activity 2 is a “for” loop.  It has an output product, the amended </a:t>
                      </a:r>
                      <a:r>
                        <a:rPr lang="en-GB" dirty="0" err="1"/>
                        <a:t>dataframe</a:t>
                      </a:r>
                      <a:r>
                        <a:rPr lang="en-GB" dirty="0"/>
                        <a:t>.</a:t>
                      </a:r>
                    </a:p>
                  </a:txBody>
                  <a:tcPr/>
                </a:tc>
                <a:extLst>
                  <a:ext uri="{0D108BD9-81ED-4DB2-BD59-A6C34878D82A}">
                    <a16:rowId xmlns:a16="http://schemas.microsoft.com/office/drawing/2014/main" val="2259916097"/>
                  </a:ext>
                </a:extLst>
              </a:tr>
              <a:tr h="370840">
                <a:tc>
                  <a:txBody>
                    <a:bodyPr/>
                    <a:lstStyle/>
                    <a:p>
                      <a:endParaRPr lang="en-GB" dirty="0"/>
                    </a:p>
                  </a:txBody>
                  <a:tcPr/>
                </a:tc>
                <a:tc>
                  <a:txBody>
                    <a:bodyPr/>
                    <a:lstStyle/>
                    <a:p>
                      <a:endParaRPr lang="en-GB" dirty="0"/>
                    </a:p>
                  </a:txBody>
                  <a:tcPr/>
                </a:tc>
                <a:tc>
                  <a:txBody>
                    <a:bodyPr/>
                    <a:lstStyle/>
                    <a:p>
                      <a:endParaRPr lang="en-GB" dirty="0"/>
                    </a:p>
                  </a:txBody>
                  <a:tcPr/>
                </a:tc>
                <a:tc>
                  <a:txBody>
                    <a:bodyPr/>
                    <a:lstStyle/>
                    <a:p>
                      <a:r>
                        <a:rPr lang="en-GB" dirty="0"/>
                        <a:t>C. There is also </a:t>
                      </a:r>
                      <a:r>
                        <a:rPr lang="en-GB" dirty="0" err="1"/>
                        <a:t>iterrows</a:t>
                      </a:r>
                      <a:endParaRPr lang="en-GB" dirty="0"/>
                    </a:p>
                  </a:txBody>
                  <a:tcPr/>
                </a:tc>
                <a:tc>
                  <a:txBody>
                    <a:bodyPr/>
                    <a:lstStyle/>
                    <a:p>
                      <a:endParaRPr lang="en-GB" dirty="0"/>
                    </a:p>
                  </a:txBody>
                  <a:tcPr/>
                </a:tc>
                <a:extLst>
                  <a:ext uri="{0D108BD9-81ED-4DB2-BD59-A6C34878D82A}">
                    <a16:rowId xmlns:a16="http://schemas.microsoft.com/office/drawing/2014/main" val="3421189276"/>
                  </a:ext>
                </a:extLst>
              </a:tr>
            </a:tbl>
          </a:graphicData>
        </a:graphic>
      </p:graphicFrame>
      <p:sp>
        <p:nvSpPr>
          <p:cNvPr id="5" name="Scroll: Horizontal 4">
            <a:extLst>
              <a:ext uri="{FF2B5EF4-FFF2-40B4-BE49-F238E27FC236}">
                <a16:creationId xmlns:a16="http://schemas.microsoft.com/office/drawing/2014/main" id="{4AE7E0F9-0B38-9CB5-D98D-A2E9C9170C8C}"/>
              </a:ext>
            </a:extLst>
          </p:cNvPr>
          <p:cNvSpPr/>
          <p:nvPr/>
        </p:nvSpPr>
        <p:spPr>
          <a:xfrm>
            <a:off x="1042737" y="4948989"/>
            <a:ext cx="5871410" cy="1909011"/>
          </a:xfrm>
          <a:prstGeom prst="horizontalScroll">
            <a:avLst/>
          </a:prstGeom>
          <a:solidFill>
            <a:schemeClr val="accent1">
              <a:lumMod val="20000"/>
              <a:lumOff val="8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latin typeface="Selawik Semibold" panose="020B0702040204020203" pitchFamily="34" charset="0"/>
              </a:rPr>
              <a:t>Help is at hand!  See Zed Shaw’s book</a:t>
            </a:r>
          </a:p>
          <a:p>
            <a:pPr algn="ctr"/>
            <a:r>
              <a:rPr lang="en-GB" dirty="0">
                <a:solidFill>
                  <a:schemeClr val="tx1"/>
                </a:solidFill>
                <a:latin typeface="Selawik Semibold" panose="020B0702040204020203" pitchFamily="34" charset="0"/>
              </a:rPr>
              <a:t>(online $ 29 ) Chapters 29 to 35.  </a:t>
            </a:r>
          </a:p>
          <a:p>
            <a:pPr algn="ctr"/>
            <a:r>
              <a:rPr lang="en-GB" dirty="0">
                <a:solidFill>
                  <a:schemeClr val="tx1"/>
                </a:solidFill>
                <a:latin typeface="Selawik Semibold" panose="020B0702040204020203" pitchFamily="34" charset="0"/>
              </a:rPr>
              <a:t>URL </a:t>
            </a:r>
            <a:r>
              <a:rPr lang="en-GB" dirty="0">
                <a:solidFill>
                  <a:schemeClr val="tx1"/>
                </a:solidFill>
                <a:latin typeface="Selawik Semibold" panose="020B0702040204020203" pitchFamily="34" charset="0"/>
                <a:hlinkClick r:id="rId2">
                  <a:extLst>
                    <a:ext uri="{A12FA001-AC4F-418D-AE19-62706E023703}">
                      <ahyp:hlinkClr xmlns:ahyp="http://schemas.microsoft.com/office/drawing/2018/hyperlinkcolor" val="tx"/>
                    </a:ext>
                  </a:extLst>
                </a:hlinkClick>
              </a:rPr>
              <a:t>Learn Python the Hard Way</a:t>
            </a:r>
            <a:r>
              <a:rPr lang="en-GB" dirty="0">
                <a:solidFill>
                  <a:schemeClr val="tx1"/>
                </a:solidFill>
                <a:latin typeface="Selawik Semibold" panose="020B0702040204020203" pitchFamily="34" charset="0"/>
              </a:rPr>
              <a:t> </a:t>
            </a:r>
          </a:p>
          <a:p>
            <a:pPr algn="ctr"/>
            <a:r>
              <a:rPr lang="en-GB" dirty="0">
                <a:solidFill>
                  <a:schemeClr val="tx1"/>
                </a:solidFill>
                <a:latin typeface="Selawik Semibold" panose="020B0702040204020203" pitchFamily="34" charset="0"/>
              </a:rPr>
              <a:t>Or buy it at used bookshop URL https://www.abebooks.co.uk/</a:t>
            </a:r>
          </a:p>
        </p:txBody>
      </p:sp>
    </p:spTree>
    <p:extLst>
      <p:ext uri="{BB962C8B-B14F-4D97-AF65-F5344CB8AC3E}">
        <p14:creationId xmlns:p14="http://schemas.microsoft.com/office/powerpoint/2010/main" val="29748353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AE83C-00AE-3AE6-BDE6-8F4761DC9C80}"/>
              </a:ext>
            </a:extLst>
          </p:cNvPr>
          <p:cNvSpPr>
            <a:spLocks noGrp="1"/>
          </p:cNvSpPr>
          <p:nvPr>
            <p:ph type="title"/>
          </p:nvPr>
        </p:nvSpPr>
        <p:spPr/>
        <p:txBody>
          <a:bodyPr/>
          <a:lstStyle/>
          <a:p>
            <a:r>
              <a:rPr lang="en-GB" dirty="0"/>
              <a:t>Sample Program Chunk in Python</a:t>
            </a:r>
          </a:p>
        </p:txBody>
      </p:sp>
      <p:sp>
        <p:nvSpPr>
          <p:cNvPr id="3" name="Content Placeholder 2">
            <a:extLst>
              <a:ext uri="{FF2B5EF4-FFF2-40B4-BE49-F238E27FC236}">
                <a16:creationId xmlns:a16="http://schemas.microsoft.com/office/drawing/2014/main" id="{51079B4F-9919-EEAE-4496-DDF83EF75BC8}"/>
              </a:ext>
            </a:extLst>
          </p:cNvPr>
          <p:cNvSpPr>
            <a:spLocks noGrp="1"/>
          </p:cNvSpPr>
          <p:nvPr>
            <p:ph idx="1"/>
          </p:nvPr>
        </p:nvSpPr>
        <p:spPr>
          <a:xfrm>
            <a:off x="838200" y="1461879"/>
            <a:ext cx="10515600" cy="4351338"/>
          </a:xfrm>
        </p:spPr>
        <p:txBody>
          <a:bodyPr/>
          <a:lstStyle/>
          <a:p>
            <a:r>
              <a:rPr lang="en-GB" dirty="0" err="1">
                <a:latin typeface="Courier New" panose="02070309020205020404" pitchFamily="49" charset="0"/>
              </a:rPr>
              <a:t>myagesexdat</a:t>
            </a:r>
            <a:r>
              <a:rPr lang="en-GB" dirty="0">
                <a:latin typeface="Courier New" panose="02070309020205020404" pitchFamily="49" charset="0"/>
              </a:rPr>
              <a:t> = </a:t>
            </a:r>
            <a:r>
              <a:rPr lang="en-GB" dirty="0" err="1">
                <a:latin typeface="Courier New" panose="02070309020205020404" pitchFamily="49" charset="0"/>
              </a:rPr>
              <a:t>pd.read_csv</a:t>
            </a:r>
            <a:r>
              <a:rPr lang="en-GB" dirty="0">
                <a:latin typeface="Courier New" panose="02070309020205020404" pitchFamily="49" charset="0"/>
              </a:rPr>
              <a:t>("D:\\pyprogramsAndSims/data/SyntheticAgeSexImmigDataLarge.csv")</a:t>
            </a:r>
          </a:p>
          <a:p>
            <a:r>
              <a:rPr lang="en-GB" dirty="0" err="1">
                <a:latin typeface="Courier New" panose="02070309020205020404" pitchFamily="49" charset="0"/>
              </a:rPr>
              <a:t>mynoneu</a:t>
            </a:r>
            <a:r>
              <a:rPr lang="en-GB" dirty="0">
                <a:latin typeface="Courier New" panose="02070309020205020404" pitchFamily="49" charset="0"/>
              </a:rPr>
              <a:t> = </a:t>
            </a:r>
            <a:r>
              <a:rPr lang="en-GB" dirty="0" err="1">
                <a:latin typeface="Courier New" panose="02070309020205020404" pitchFamily="49" charset="0"/>
              </a:rPr>
              <a:t>myagesexdat</a:t>
            </a:r>
            <a:r>
              <a:rPr lang="en-GB" dirty="0">
                <a:latin typeface="Courier New" panose="02070309020205020404" pitchFamily="49" charset="0"/>
              </a:rPr>
              <a:t>[</a:t>
            </a:r>
            <a:r>
              <a:rPr lang="en-GB" dirty="0" err="1">
                <a:latin typeface="Courier New" panose="02070309020205020404" pitchFamily="49" charset="0"/>
              </a:rPr>
              <a:t>myagesexdat</a:t>
            </a:r>
            <a:r>
              <a:rPr lang="en-GB" dirty="0">
                <a:latin typeface="Courier New" panose="02070309020205020404" pitchFamily="49" charset="0"/>
              </a:rPr>
              <a:t>["type"] == "</a:t>
            </a:r>
            <a:r>
              <a:rPr lang="en-GB" dirty="0" err="1">
                <a:latin typeface="Courier New" panose="02070309020205020404" pitchFamily="49" charset="0"/>
              </a:rPr>
              <a:t>Noneu</a:t>
            </a:r>
            <a:r>
              <a:rPr lang="en-GB" dirty="0">
                <a:latin typeface="Courier New" panose="02070309020205020404" pitchFamily="49" charset="0"/>
              </a:rPr>
              <a:t>"]</a:t>
            </a:r>
          </a:p>
          <a:p>
            <a:r>
              <a:rPr lang="en-GB" dirty="0" err="1"/>
              <a:t>mynoneu.head</a:t>
            </a:r>
            <a:r>
              <a:rPr lang="en-GB" dirty="0"/>
              <a:t>()</a:t>
            </a:r>
          </a:p>
          <a:p>
            <a:r>
              <a:rPr lang="en-GB" dirty="0" err="1"/>
              <a:t>myagesexdat</a:t>
            </a:r>
            <a:r>
              <a:rPr lang="en-GB" dirty="0"/>
              <a:t> = </a:t>
            </a:r>
            <a:r>
              <a:rPr lang="en-GB" dirty="0" err="1"/>
              <a:t>myagesexdat</a:t>
            </a:r>
            <a:r>
              <a:rPr lang="en-GB" dirty="0"/>
              <a:t>[</a:t>
            </a:r>
            <a:r>
              <a:rPr lang="en-GB" dirty="0" err="1"/>
              <a:t>myagesexdat</a:t>
            </a:r>
            <a:r>
              <a:rPr lang="en-GB" dirty="0"/>
              <a:t>["type"] == "</a:t>
            </a:r>
            <a:r>
              <a:rPr lang="en-GB" dirty="0" err="1"/>
              <a:t>Noneu</a:t>
            </a:r>
            <a:r>
              <a:rPr lang="en-GB" dirty="0"/>
              <a:t>"]</a:t>
            </a:r>
          </a:p>
          <a:p>
            <a:r>
              <a:rPr lang="en-GB" dirty="0" err="1"/>
              <a:t>myagesexdat.head</a:t>
            </a:r>
            <a:r>
              <a:rPr lang="en-GB" dirty="0"/>
              <a:t>()</a:t>
            </a:r>
          </a:p>
          <a:p>
            <a:pPr marL="0" indent="0">
              <a:buNone/>
            </a:pPr>
            <a:endParaRPr lang="en-GB" dirty="0"/>
          </a:p>
        </p:txBody>
      </p:sp>
      <p:graphicFrame>
        <p:nvGraphicFramePr>
          <p:cNvPr id="4" name="Content Placeholder 3">
            <a:extLst>
              <a:ext uri="{FF2B5EF4-FFF2-40B4-BE49-F238E27FC236}">
                <a16:creationId xmlns:a16="http://schemas.microsoft.com/office/drawing/2014/main" id="{E35C9A4B-C53A-5E54-E7F4-520014ACD4E8}"/>
              </a:ext>
            </a:extLst>
          </p:cNvPr>
          <p:cNvGraphicFramePr>
            <a:graphicFrameLocks/>
          </p:cNvGraphicFramePr>
          <p:nvPr>
            <p:extLst>
              <p:ext uri="{D42A27DB-BD31-4B8C-83A1-F6EECF244321}">
                <p14:modId xmlns:p14="http://schemas.microsoft.com/office/powerpoint/2010/main" val="3634988711"/>
              </p:ext>
            </p:extLst>
          </p:nvPr>
        </p:nvGraphicFramePr>
        <p:xfrm>
          <a:off x="224591" y="3637548"/>
          <a:ext cx="10515600" cy="2987040"/>
        </p:xfrm>
        <a:graphic>
          <a:graphicData uri="http://schemas.openxmlformats.org/drawingml/2006/table">
            <a:tbl>
              <a:tblPr firstRow="1" bandRow="1">
                <a:tableStyleId>{0660B408-B3CF-4A94-85FC-2B1E0A45F4A2}</a:tableStyleId>
              </a:tblPr>
              <a:tblGrid>
                <a:gridCol w="2103120">
                  <a:extLst>
                    <a:ext uri="{9D8B030D-6E8A-4147-A177-3AD203B41FA5}">
                      <a16:colId xmlns:a16="http://schemas.microsoft.com/office/drawing/2014/main" val="2817916360"/>
                    </a:ext>
                  </a:extLst>
                </a:gridCol>
                <a:gridCol w="2103120">
                  <a:extLst>
                    <a:ext uri="{9D8B030D-6E8A-4147-A177-3AD203B41FA5}">
                      <a16:colId xmlns:a16="http://schemas.microsoft.com/office/drawing/2014/main" val="4223244255"/>
                    </a:ext>
                  </a:extLst>
                </a:gridCol>
                <a:gridCol w="2103120">
                  <a:extLst>
                    <a:ext uri="{9D8B030D-6E8A-4147-A177-3AD203B41FA5}">
                      <a16:colId xmlns:a16="http://schemas.microsoft.com/office/drawing/2014/main" val="2860763663"/>
                    </a:ext>
                  </a:extLst>
                </a:gridCol>
                <a:gridCol w="2103120">
                  <a:extLst>
                    <a:ext uri="{9D8B030D-6E8A-4147-A177-3AD203B41FA5}">
                      <a16:colId xmlns:a16="http://schemas.microsoft.com/office/drawing/2014/main" val="3968901518"/>
                    </a:ext>
                  </a:extLst>
                </a:gridCol>
                <a:gridCol w="2103120">
                  <a:extLst>
                    <a:ext uri="{9D8B030D-6E8A-4147-A177-3AD203B41FA5}">
                      <a16:colId xmlns:a16="http://schemas.microsoft.com/office/drawing/2014/main" val="956755068"/>
                    </a:ext>
                  </a:extLst>
                </a:gridCol>
              </a:tblGrid>
              <a:tr h="370840">
                <a:tc>
                  <a:txBody>
                    <a:bodyPr/>
                    <a:lstStyle/>
                    <a:p>
                      <a:r>
                        <a:rPr lang="en-GB" dirty="0"/>
                        <a:t>Print out 20 rows of data to the console.</a:t>
                      </a:r>
                    </a:p>
                  </a:txBody>
                  <a:tcPr/>
                </a:tc>
                <a:tc>
                  <a:txBody>
                    <a:bodyPr/>
                    <a:lstStyle/>
                    <a:p>
                      <a:endParaRPr lang="en-GB" dirty="0"/>
                    </a:p>
                  </a:txBody>
                  <a:tcPr/>
                </a:tc>
                <a:tc>
                  <a:txBody>
                    <a:bodyPr/>
                    <a:lstStyle/>
                    <a:p>
                      <a:r>
                        <a:rPr lang="en-GB" dirty="0"/>
                        <a:t>Head()</a:t>
                      </a:r>
                    </a:p>
                    <a:p>
                      <a:r>
                        <a:rPr lang="en-GB" dirty="0"/>
                        <a:t>Tail()</a:t>
                      </a:r>
                    </a:p>
                  </a:txBody>
                  <a:tcPr/>
                </a:tc>
                <a:tc>
                  <a:txBody>
                    <a:bodyPr/>
                    <a:lstStyle/>
                    <a:p>
                      <a:r>
                        <a:rPr lang="en-GB" dirty="0"/>
                        <a:t>What are head() and tail()? </a:t>
                      </a:r>
                    </a:p>
                  </a:txBody>
                  <a:tcPr/>
                </a:tc>
                <a:tc>
                  <a:txBody>
                    <a:bodyPr/>
                    <a:lstStyle/>
                    <a:p>
                      <a:endParaRPr lang="en-GB" dirty="0"/>
                    </a:p>
                  </a:txBody>
                  <a:tcPr/>
                </a:tc>
                <a:extLst>
                  <a:ext uri="{0D108BD9-81ED-4DB2-BD59-A6C34878D82A}">
                    <a16:rowId xmlns:a16="http://schemas.microsoft.com/office/drawing/2014/main" val="2673838624"/>
                  </a:ext>
                </a:extLst>
              </a:tr>
              <a:tr h="370840">
                <a:tc>
                  <a:txBody>
                    <a:bodyPr/>
                    <a:lstStyle/>
                    <a:p>
                      <a:r>
                        <a:rPr lang="en-GB" dirty="0" err="1">
                          <a:highlight>
                            <a:srgbClr val="FFFF00"/>
                          </a:highlight>
                        </a:rPr>
                        <a:t>Mydata.head</a:t>
                      </a:r>
                      <a:r>
                        <a:rPr lang="en-GB" dirty="0">
                          <a:highlight>
                            <a:srgbClr val="FFFF00"/>
                          </a:highlight>
                        </a:rPr>
                        <a:t>(20)</a:t>
                      </a:r>
                    </a:p>
                  </a:txBody>
                  <a:tcPr/>
                </a:tc>
                <a:tc>
                  <a:txBody>
                    <a:bodyPr/>
                    <a:lstStyle/>
                    <a:p>
                      <a:endParaRPr lang="en-GB" dirty="0">
                        <a:highlight>
                          <a:srgbClr val="FFFF00"/>
                        </a:highlight>
                      </a:endParaRPr>
                    </a:p>
                  </a:txBody>
                  <a:tcPr/>
                </a:tc>
                <a:tc>
                  <a:txBody>
                    <a:bodyPr/>
                    <a:lstStyle/>
                    <a:p>
                      <a:r>
                        <a:rPr lang="en-GB" dirty="0" err="1">
                          <a:highlight>
                            <a:srgbClr val="FFFF00"/>
                          </a:highlight>
                        </a:rPr>
                        <a:t>Mydata.head</a:t>
                      </a:r>
                      <a:r>
                        <a:rPr lang="en-GB" dirty="0">
                          <a:highlight>
                            <a:srgbClr val="FFFF00"/>
                          </a:highlight>
                        </a:rPr>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These are ‘methods’. Here the default is 5 rows. </a:t>
                      </a:r>
                    </a:p>
                  </a:txBody>
                  <a:tcPr/>
                </a:tc>
                <a:tc>
                  <a:txBody>
                    <a:bodyPr/>
                    <a:lstStyle/>
                    <a:p>
                      <a:endParaRPr lang="en-GB" b="1" i="1" dirty="0">
                        <a:highlight>
                          <a:srgbClr val="FF00FF"/>
                        </a:highlight>
                      </a:endParaRPr>
                    </a:p>
                  </a:txBody>
                  <a:tcPr/>
                </a:tc>
                <a:extLst>
                  <a:ext uri="{0D108BD9-81ED-4DB2-BD59-A6C34878D82A}">
                    <a16:rowId xmlns:a16="http://schemas.microsoft.com/office/drawing/2014/main" val="1497284269"/>
                  </a:ext>
                </a:extLst>
              </a:tr>
              <a:tr h="370840">
                <a:tc>
                  <a:txBody>
                    <a:bodyPr/>
                    <a:lstStyle/>
                    <a:p>
                      <a:endParaRPr lang="en-GB" dirty="0"/>
                    </a:p>
                  </a:txBody>
                  <a:tcPr/>
                </a:tc>
                <a:tc>
                  <a:txBody>
                    <a:bodyPr/>
                    <a:lstStyle/>
                    <a:p>
                      <a:endParaRPr lang="en-GB" dirty="0"/>
                    </a:p>
                  </a:txBody>
                  <a:tcPr/>
                </a:tc>
                <a:tc>
                  <a:txBody>
                    <a:bodyPr/>
                    <a:lstStyle/>
                    <a:p>
                      <a:r>
                        <a:rPr lang="en-GB" dirty="0"/>
                        <a:t>Notice the format is </a:t>
                      </a:r>
                    </a:p>
                    <a:p>
                      <a:r>
                        <a:rPr lang="en-GB" dirty="0" err="1"/>
                        <a:t>Entity.method</a:t>
                      </a:r>
                      <a:r>
                        <a:rPr lang="en-GB"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They were written into Python language. </a:t>
                      </a:r>
                    </a:p>
                  </a:txBody>
                  <a:tcPr/>
                </a:tc>
                <a:tc>
                  <a:txBody>
                    <a:bodyPr/>
                    <a:lstStyle/>
                    <a:p>
                      <a:endParaRPr lang="en-GB" dirty="0"/>
                    </a:p>
                  </a:txBody>
                  <a:tcPr/>
                </a:tc>
                <a:extLst>
                  <a:ext uri="{0D108BD9-81ED-4DB2-BD59-A6C34878D82A}">
                    <a16:rowId xmlns:a16="http://schemas.microsoft.com/office/drawing/2014/main" val="2259916097"/>
                  </a:ext>
                </a:extLst>
              </a:tr>
              <a:tr h="370840">
                <a:tc>
                  <a:txBody>
                    <a:bodyPr/>
                    <a:lstStyle/>
                    <a:p>
                      <a:r>
                        <a:rPr lang="en-GB" dirty="0"/>
                        <a:t>20 is the parameter</a:t>
                      </a:r>
                    </a:p>
                  </a:txBody>
                  <a:tcPr/>
                </a:tc>
                <a:tc>
                  <a:txBody>
                    <a:bodyPr/>
                    <a:lstStyle/>
                    <a:p>
                      <a:endParaRPr lang="en-GB" dirty="0"/>
                    </a:p>
                  </a:txBody>
                  <a:tcPr/>
                </a:tc>
                <a:tc>
                  <a:txBody>
                    <a:bodyPr/>
                    <a:lstStyle/>
                    <a:p>
                      <a:r>
                        <a:rPr lang="en-GB" sz="1400" dirty="0"/>
                        <a:t>The parameter is used by the method.</a:t>
                      </a:r>
                      <a:endParaRPr lang="en-GB" dirty="0"/>
                    </a:p>
                  </a:txBody>
                  <a:tcPr/>
                </a:tc>
                <a:tc>
                  <a:txBody>
                    <a:bodyPr/>
                    <a:lstStyle/>
                    <a:p>
                      <a:endParaRPr lang="en-GB" dirty="0"/>
                    </a:p>
                  </a:txBody>
                  <a:tcPr/>
                </a:tc>
                <a:tc>
                  <a:txBody>
                    <a:bodyPr/>
                    <a:lstStyle/>
                    <a:p>
                      <a:endParaRPr lang="en-GB" dirty="0"/>
                    </a:p>
                  </a:txBody>
                  <a:tcPr/>
                </a:tc>
                <a:extLst>
                  <a:ext uri="{0D108BD9-81ED-4DB2-BD59-A6C34878D82A}">
                    <a16:rowId xmlns:a16="http://schemas.microsoft.com/office/drawing/2014/main" val="3421189276"/>
                  </a:ext>
                </a:extLst>
              </a:tr>
            </a:tbl>
          </a:graphicData>
        </a:graphic>
      </p:graphicFrame>
    </p:spTree>
    <p:extLst>
      <p:ext uri="{BB962C8B-B14F-4D97-AF65-F5344CB8AC3E}">
        <p14:creationId xmlns:p14="http://schemas.microsoft.com/office/powerpoint/2010/main" val="35874218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B8DD7-C8CB-CB7F-C5E1-93F811769B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E3D699-96E1-F23B-A16C-D6B1B5C7D06B}"/>
              </a:ext>
            </a:extLst>
          </p:cNvPr>
          <p:cNvSpPr>
            <a:spLocks noGrp="1"/>
          </p:cNvSpPr>
          <p:nvPr>
            <p:ph type="title"/>
          </p:nvPr>
        </p:nvSpPr>
        <p:spPr/>
        <p:txBody>
          <a:bodyPr/>
          <a:lstStyle/>
          <a:p>
            <a:r>
              <a:rPr lang="en-GB" dirty="0"/>
              <a:t>Sample Program Chunk in Python</a:t>
            </a:r>
          </a:p>
        </p:txBody>
      </p:sp>
      <p:sp>
        <p:nvSpPr>
          <p:cNvPr id="3" name="Content Placeholder 2">
            <a:extLst>
              <a:ext uri="{FF2B5EF4-FFF2-40B4-BE49-F238E27FC236}">
                <a16:creationId xmlns:a16="http://schemas.microsoft.com/office/drawing/2014/main" id="{ADD6D412-5D0C-1871-4C84-7E4A4BDECA9C}"/>
              </a:ext>
            </a:extLst>
          </p:cNvPr>
          <p:cNvSpPr>
            <a:spLocks noGrp="1"/>
          </p:cNvSpPr>
          <p:nvPr>
            <p:ph idx="1"/>
          </p:nvPr>
        </p:nvSpPr>
        <p:spPr>
          <a:xfrm>
            <a:off x="838200" y="1825625"/>
            <a:ext cx="6797842" cy="4952164"/>
          </a:xfrm>
        </p:spPr>
        <p:txBody>
          <a:bodyPr>
            <a:normAutofit/>
          </a:bodyPr>
          <a:lstStyle/>
          <a:p>
            <a:r>
              <a:rPr lang="en-GB" dirty="0" err="1"/>
              <a:t>myagesexdat</a:t>
            </a:r>
            <a:r>
              <a:rPr lang="en-GB" dirty="0"/>
              <a:t> = </a:t>
            </a:r>
            <a:r>
              <a:rPr lang="en-GB" dirty="0" err="1"/>
              <a:t>pd.read_csv</a:t>
            </a:r>
            <a:r>
              <a:rPr lang="en-GB" dirty="0"/>
              <a:t>("D:\\pyprogramsAndSims/data/SyntheticAgeSexImmigDataLarge.csv")</a:t>
            </a:r>
          </a:p>
          <a:p>
            <a:r>
              <a:rPr lang="en-GB" dirty="0" err="1"/>
              <a:t>mynoneu</a:t>
            </a:r>
            <a:r>
              <a:rPr lang="en-GB" dirty="0"/>
              <a:t> = </a:t>
            </a:r>
            <a:r>
              <a:rPr lang="en-GB" dirty="0" err="1"/>
              <a:t>myagesexdat</a:t>
            </a:r>
            <a:r>
              <a:rPr lang="en-GB" dirty="0"/>
              <a:t>[</a:t>
            </a:r>
            <a:r>
              <a:rPr lang="en-GB" dirty="0" err="1"/>
              <a:t>myagesexdat</a:t>
            </a:r>
            <a:r>
              <a:rPr lang="en-GB" dirty="0"/>
              <a:t>["type"] == "</a:t>
            </a:r>
            <a:r>
              <a:rPr lang="en-GB" dirty="0" err="1"/>
              <a:t>Noneu</a:t>
            </a:r>
            <a:r>
              <a:rPr lang="en-GB" dirty="0"/>
              <a:t>"]</a:t>
            </a:r>
          </a:p>
          <a:p>
            <a:r>
              <a:rPr lang="en-GB" dirty="0" err="1"/>
              <a:t>mynoneu.head</a:t>
            </a:r>
            <a:r>
              <a:rPr lang="en-GB" dirty="0"/>
              <a:t>()</a:t>
            </a:r>
          </a:p>
          <a:p>
            <a:r>
              <a:rPr lang="en-GB" dirty="0" err="1"/>
              <a:t>myagesexdat</a:t>
            </a:r>
            <a:r>
              <a:rPr lang="en-GB" dirty="0"/>
              <a:t> = </a:t>
            </a:r>
            <a:r>
              <a:rPr lang="en-GB" dirty="0" err="1"/>
              <a:t>myagesexdat</a:t>
            </a:r>
            <a:r>
              <a:rPr lang="en-GB" dirty="0"/>
              <a:t>[</a:t>
            </a:r>
            <a:r>
              <a:rPr lang="en-GB" dirty="0" err="1"/>
              <a:t>myagesexdat</a:t>
            </a:r>
            <a:r>
              <a:rPr lang="en-GB" dirty="0"/>
              <a:t>["type"] == "</a:t>
            </a:r>
            <a:r>
              <a:rPr lang="en-GB" dirty="0" err="1"/>
              <a:t>Noneu</a:t>
            </a:r>
            <a:r>
              <a:rPr lang="en-GB" dirty="0"/>
              <a:t>"]</a:t>
            </a:r>
          </a:p>
          <a:p>
            <a:r>
              <a:rPr lang="en-GB" dirty="0" err="1"/>
              <a:t>myagesexdat.head</a:t>
            </a:r>
            <a:r>
              <a:rPr lang="en-GB" dirty="0"/>
              <a:t>()</a:t>
            </a:r>
          </a:p>
          <a:p>
            <a:pPr marL="0" indent="0">
              <a:buNone/>
            </a:pPr>
            <a:endParaRPr lang="en-GB" dirty="0"/>
          </a:p>
        </p:txBody>
      </p:sp>
      <p:graphicFrame>
        <p:nvGraphicFramePr>
          <p:cNvPr id="4" name="Content Placeholder 3">
            <a:extLst>
              <a:ext uri="{FF2B5EF4-FFF2-40B4-BE49-F238E27FC236}">
                <a16:creationId xmlns:a16="http://schemas.microsoft.com/office/drawing/2014/main" id="{B7016B32-41B5-82DC-C1F0-4C9B2F10428B}"/>
              </a:ext>
            </a:extLst>
          </p:cNvPr>
          <p:cNvGraphicFramePr>
            <a:graphicFrameLocks/>
          </p:cNvGraphicFramePr>
          <p:nvPr>
            <p:extLst>
              <p:ext uri="{D42A27DB-BD31-4B8C-83A1-F6EECF244321}">
                <p14:modId xmlns:p14="http://schemas.microsoft.com/office/powerpoint/2010/main" val="1718308217"/>
              </p:ext>
            </p:extLst>
          </p:nvPr>
        </p:nvGraphicFramePr>
        <p:xfrm>
          <a:off x="7636040" y="1302352"/>
          <a:ext cx="4555960" cy="5217160"/>
        </p:xfrm>
        <a:graphic>
          <a:graphicData uri="http://schemas.openxmlformats.org/drawingml/2006/table">
            <a:tbl>
              <a:tblPr firstRow="1" bandRow="1">
                <a:tableStyleId>{0660B408-B3CF-4A94-85FC-2B1E0A45F4A2}</a:tableStyleId>
              </a:tblPr>
              <a:tblGrid>
                <a:gridCol w="2277980">
                  <a:extLst>
                    <a:ext uri="{9D8B030D-6E8A-4147-A177-3AD203B41FA5}">
                      <a16:colId xmlns:a16="http://schemas.microsoft.com/office/drawing/2014/main" val="2817916360"/>
                    </a:ext>
                  </a:extLst>
                </a:gridCol>
                <a:gridCol w="2277980">
                  <a:extLst>
                    <a:ext uri="{9D8B030D-6E8A-4147-A177-3AD203B41FA5}">
                      <a16:colId xmlns:a16="http://schemas.microsoft.com/office/drawing/2014/main" val="4223244255"/>
                    </a:ext>
                  </a:extLst>
                </a:gridCol>
              </a:tblGrid>
              <a:tr h="370840">
                <a:tc>
                  <a:txBody>
                    <a:bodyPr/>
                    <a:lstStyle/>
                    <a:p>
                      <a:r>
                        <a:rPr lang="en-GB" dirty="0"/>
                        <a:t>Notice the input step</a:t>
                      </a:r>
                    </a:p>
                  </a:txBody>
                  <a:tcPr/>
                </a:tc>
                <a:tc>
                  <a:txBody>
                    <a:bodyPr/>
                    <a:lstStyle/>
                    <a:p>
                      <a:r>
                        <a:rPr lang="en-GB" dirty="0"/>
                        <a:t>= is an assignment operator</a:t>
                      </a:r>
                    </a:p>
                  </a:txBody>
                  <a:tcPr/>
                </a:tc>
                <a:extLst>
                  <a:ext uri="{0D108BD9-81ED-4DB2-BD59-A6C34878D82A}">
                    <a16:rowId xmlns:a16="http://schemas.microsoft.com/office/drawing/2014/main" val="2673838624"/>
                  </a:ext>
                </a:extLst>
              </a:tr>
              <a:tr h="370840">
                <a:tc>
                  <a:txBody>
                    <a:bodyPr/>
                    <a:lstStyle/>
                    <a:p>
                      <a:r>
                        <a:rPr lang="en-GB" dirty="0">
                          <a:highlight>
                            <a:srgbClr val="FFFF00"/>
                          </a:highlight>
                        </a:rPr>
                        <a:t>[  ]  is bracket notation, ideally square bracket notation, indicating rows by default </a:t>
                      </a:r>
                    </a:p>
                  </a:txBody>
                  <a:tcPr/>
                </a:tc>
                <a:tc>
                  <a:txBody>
                    <a:bodyPr/>
                    <a:lstStyle/>
                    <a:p>
                      <a:r>
                        <a:rPr lang="en-GB" dirty="0" err="1">
                          <a:highlight>
                            <a:srgbClr val="FFFF00"/>
                          </a:highlight>
                        </a:rPr>
                        <a:t>Dataframe</a:t>
                      </a:r>
                      <a:r>
                        <a:rPr lang="en-GB" dirty="0">
                          <a:highlight>
                            <a:srgbClr val="FFFF00"/>
                          </a:highlight>
                        </a:rPr>
                        <a:t>[</a:t>
                      </a:r>
                      <a:r>
                        <a:rPr lang="en-GB" dirty="0" err="1">
                          <a:highlight>
                            <a:srgbClr val="FFFF00"/>
                          </a:highlight>
                        </a:rPr>
                        <a:t>rownames</a:t>
                      </a:r>
                      <a:r>
                        <a:rPr lang="en-GB" dirty="0">
                          <a:highlight>
                            <a:srgbClr val="FFFF00"/>
                          </a:highlight>
                        </a:rPr>
                        <a:t>] is an example of </a:t>
                      </a:r>
                    </a:p>
                    <a:p>
                      <a:endParaRPr lang="en-GB" dirty="0">
                        <a:highlight>
                          <a:srgbClr val="FFFF00"/>
                        </a:highlight>
                      </a:endParaRPr>
                    </a:p>
                    <a:p>
                      <a:r>
                        <a:rPr lang="en-GB" dirty="0">
                          <a:highlight>
                            <a:srgbClr val="FFFF00"/>
                          </a:highlight>
                        </a:rPr>
                        <a:t>Entity[</a:t>
                      </a:r>
                      <a:r>
                        <a:rPr lang="en-GB" dirty="0" err="1">
                          <a:highlight>
                            <a:srgbClr val="FFFF00"/>
                          </a:highlight>
                        </a:rPr>
                        <a:t>listnumbers</a:t>
                      </a:r>
                      <a:r>
                        <a:rPr lang="en-GB" dirty="0">
                          <a:highlight>
                            <a:srgbClr val="FFFF00"/>
                          </a:highlight>
                        </a:rPr>
                        <a:t>]</a:t>
                      </a:r>
                    </a:p>
                  </a:txBody>
                  <a:tcPr/>
                </a:tc>
                <a:extLst>
                  <a:ext uri="{0D108BD9-81ED-4DB2-BD59-A6C34878D82A}">
                    <a16:rowId xmlns:a16="http://schemas.microsoft.com/office/drawing/2014/main" val="1497284269"/>
                  </a:ext>
                </a:extLst>
              </a:tr>
              <a:tr h="370840">
                <a:tc>
                  <a:txBody>
                    <a:bodyPr/>
                    <a:lstStyle/>
                    <a:p>
                      <a:r>
                        <a:rPr lang="en-GB" dirty="0"/>
                        <a:t>To choose by row and column, use the .loc() or .</a:t>
                      </a:r>
                      <a:r>
                        <a:rPr lang="en-GB" dirty="0" err="1"/>
                        <a:t>iloc</a:t>
                      </a:r>
                      <a:r>
                        <a:rPr lang="en-GB" dirty="0"/>
                        <a:t>() method</a:t>
                      </a:r>
                    </a:p>
                  </a:txBody>
                  <a:tcPr/>
                </a:tc>
                <a:tc>
                  <a:txBody>
                    <a:bodyPr/>
                    <a:lstStyle/>
                    <a:p>
                      <a:r>
                        <a:rPr lang="en-GB" b="1" i="1" dirty="0"/>
                        <a:t>Can you see the assignment operator again? </a:t>
                      </a:r>
                    </a:p>
                  </a:txBody>
                  <a:tcPr/>
                </a:tc>
                <a:extLst>
                  <a:ext uri="{0D108BD9-81ED-4DB2-BD59-A6C34878D82A}">
                    <a16:rowId xmlns:a16="http://schemas.microsoft.com/office/drawing/2014/main" val="2259916097"/>
                  </a:ext>
                </a:extLst>
              </a:tr>
              <a:tr h="370840">
                <a:tc>
                  <a:txBody>
                    <a:bodyPr/>
                    <a:lstStyle/>
                    <a:p>
                      <a:r>
                        <a:rPr lang="en-GB" dirty="0" err="1"/>
                        <a:t>myagesexdat</a:t>
                      </a:r>
                      <a:r>
                        <a:rPr lang="en-GB" dirty="0"/>
                        <a:t>["type"] == "</a:t>
                      </a:r>
                      <a:r>
                        <a:rPr lang="en-GB" dirty="0" err="1"/>
                        <a:t>Noneu</a:t>
                      </a:r>
                      <a:r>
                        <a:rPr lang="en-GB" dirty="0"/>
                        <a:t>"] is a condition, which rows must conform to.</a:t>
                      </a:r>
                    </a:p>
                  </a:txBody>
                  <a:tcPr/>
                </a:tc>
                <a:tc>
                  <a:txBody>
                    <a:bodyPr/>
                    <a:lstStyle/>
                    <a:p>
                      <a:r>
                        <a:rPr lang="en-GB" dirty="0"/>
                        <a:t>Entity[</a:t>
                      </a:r>
                      <a:r>
                        <a:rPr lang="en-GB" dirty="0" err="1"/>
                        <a:t>rowname</a:t>
                      </a:r>
                      <a:r>
                        <a:rPr lang="en-GB" dirty="0"/>
                        <a:t>]</a:t>
                      </a:r>
                    </a:p>
                    <a:p>
                      <a:r>
                        <a:rPr lang="en-GB" dirty="0"/>
                        <a:t>Is similar to</a:t>
                      </a:r>
                    </a:p>
                    <a:p>
                      <a:endParaRPr lang="en-GB" dirty="0"/>
                    </a:p>
                    <a:p>
                      <a:r>
                        <a:rPr lang="en-GB" dirty="0"/>
                        <a:t>Entity[</a:t>
                      </a:r>
                      <a:r>
                        <a:rPr lang="en-GB" dirty="0" err="1"/>
                        <a:t>rowcondition</a:t>
                      </a:r>
                      <a:r>
                        <a:rPr lang="en-GB" dirty="0"/>
                        <a:t>]</a:t>
                      </a:r>
                    </a:p>
                  </a:txBody>
                  <a:tcPr/>
                </a:tc>
                <a:extLst>
                  <a:ext uri="{0D108BD9-81ED-4DB2-BD59-A6C34878D82A}">
                    <a16:rowId xmlns:a16="http://schemas.microsoft.com/office/drawing/2014/main" val="3421189276"/>
                  </a:ext>
                </a:extLst>
              </a:tr>
              <a:tr h="370840">
                <a:tc>
                  <a:txBody>
                    <a:bodyPr/>
                    <a:lstStyle/>
                    <a:p>
                      <a:r>
                        <a:rPr lang="en-GB" dirty="0"/>
                        <a:t>Six easy conditionals</a:t>
                      </a:r>
                    </a:p>
                  </a:txBody>
                  <a:tcPr/>
                </a:tc>
                <a:tc>
                  <a:txBody>
                    <a:bodyPr/>
                    <a:lstStyle/>
                    <a:p>
                      <a:r>
                        <a:rPr lang="en-GB" dirty="0"/>
                        <a:t>==, ~=, &gt;=, &lt;=, &lt;, &gt;</a:t>
                      </a:r>
                    </a:p>
                  </a:txBody>
                  <a:tcPr/>
                </a:tc>
                <a:extLst>
                  <a:ext uri="{0D108BD9-81ED-4DB2-BD59-A6C34878D82A}">
                    <a16:rowId xmlns:a16="http://schemas.microsoft.com/office/drawing/2014/main" val="96370647"/>
                  </a:ext>
                </a:extLst>
              </a:tr>
              <a:tr h="370840">
                <a:tc>
                  <a:txBody>
                    <a:bodyPr/>
                    <a:lstStyle/>
                    <a:p>
                      <a:r>
                        <a:rPr lang="en-GB" sz="1200" dirty="0"/>
                        <a:t>These are operators.</a:t>
                      </a:r>
                    </a:p>
                  </a:txBody>
                  <a:tcPr/>
                </a:tc>
                <a:tc>
                  <a:txBody>
                    <a:bodyPr/>
                    <a:lstStyle/>
                    <a:p>
                      <a:r>
                        <a:rPr lang="en-GB" sz="1200" dirty="0"/>
                        <a:t>= is the assignment operator.  == checks for equality so it’s a conditional operator.</a:t>
                      </a:r>
                    </a:p>
                  </a:txBody>
                  <a:tcPr/>
                </a:tc>
                <a:extLst>
                  <a:ext uri="{0D108BD9-81ED-4DB2-BD59-A6C34878D82A}">
                    <a16:rowId xmlns:a16="http://schemas.microsoft.com/office/drawing/2014/main" val="577600590"/>
                  </a:ext>
                </a:extLst>
              </a:tr>
            </a:tbl>
          </a:graphicData>
        </a:graphic>
      </p:graphicFrame>
    </p:spTree>
    <p:extLst>
      <p:ext uri="{BB962C8B-B14F-4D97-AF65-F5344CB8AC3E}">
        <p14:creationId xmlns:p14="http://schemas.microsoft.com/office/powerpoint/2010/main" val="9551042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219E7-7D1A-C344-CA0F-BC1D3B0B80B1}"/>
              </a:ext>
            </a:extLst>
          </p:cNvPr>
          <p:cNvSpPr>
            <a:spLocks noGrp="1"/>
          </p:cNvSpPr>
          <p:nvPr>
            <p:ph type="title"/>
          </p:nvPr>
        </p:nvSpPr>
        <p:spPr>
          <a:xfrm>
            <a:off x="838200" y="365124"/>
            <a:ext cx="10515600" cy="6350635"/>
          </a:xfrm>
        </p:spPr>
        <p:txBody>
          <a:bodyPr>
            <a:normAutofit/>
          </a:bodyPr>
          <a:lstStyle/>
          <a:p>
            <a:r>
              <a:rPr lang="en-GB" dirty="0"/>
              <a:t>Taster Figures</a:t>
            </a:r>
            <a:br>
              <a:rPr lang="en-GB" dirty="0"/>
            </a:br>
            <a:br>
              <a:rPr lang="en-GB" dirty="0"/>
            </a:br>
            <a:br>
              <a:rPr lang="en-GB" dirty="0"/>
            </a:br>
            <a:br>
              <a:rPr lang="en-GB" dirty="0"/>
            </a:br>
            <a:br>
              <a:rPr lang="en-GB" dirty="0"/>
            </a:br>
            <a:br>
              <a:rPr lang="en-GB" dirty="0"/>
            </a:br>
            <a:r>
              <a:rPr lang="en-GB" dirty="0"/>
              <a:t>Data-science style</a:t>
            </a:r>
            <a:br>
              <a:rPr lang="en-GB" sz="3100" dirty="0"/>
            </a:br>
            <a:r>
              <a:rPr lang="en-GB" sz="3100" dirty="0"/>
              <a:t>Histograms</a:t>
            </a:r>
            <a:br>
              <a:rPr lang="en-GB" sz="3100" dirty="0"/>
            </a:br>
            <a:r>
              <a:rPr lang="en-GB" sz="3100" dirty="0"/>
              <a:t>Kernel density diagrams</a:t>
            </a:r>
            <a:br>
              <a:rPr lang="en-GB" sz="3100" dirty="0"/>
            </a:br>
            <a:r>
              <a:rPr lang="en-GB" sz="3100" dirty="0"/>
              <a:t>Raise your ambitions</a:t>
            </a:r>
            <a:endParaRPr lang="en-GB" dirty="0"/>
          </a:p>
        </p:txBody>
      </p:sp>
      <p:pic>
        <p:nvPicPr>
          <p:cNvPr id="2052" name="Picture 1" descr="A graph of age distribution&#10;&#10;AI-generated content may be incorrect.">
            <a:extLst>
              <a:ext uri="{FF2B5EF4-FFF2-40B4-BE49-F238E27FC236}">
                <a16:creationId xmlns:a16="http://schemas.microsoft.com/office/drawing/2014/main" id="{AAE6894C-EB41-38E5-E596-C32A3487A1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83099" y="859156"/>
            <a:ext cx="4417274" cy="2757804"/>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2" descr="A graph of a number of years&#10;&#10;AI-generated content may be incorrect.">
            <a:extLst>
              <a:ext uri="{FF2B5EF4-FFF2-40B4-BE49-F238E27FC236}">
                <a16:creationId xmlns:a16="http://schemas.microsoft.com/office/drawing/2014/main" id="{52FEEA5D-7DFB-2B19-10FD-913CFFA735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23756" y="4405313"/>
            <a:ext cx="2498725" cy="1874837"/>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3" descr="A graph of diamond prices&#10;&#10;AI-generated content may be incorrect.">
            <a:extLst>
              <a:ext uri="{FF2B5EF4-FFF2-40B4-BE49-F238E27FC236}">
                <a16:creationId xmlns:a16="http://schemas.microsoft.com/office/drawing/2014/main" id="{04B0E623-50A7-8D01-D7E8-001ADFB3D0F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62707" y="4291013"/>
            <a:ext cx="2651125" cy="1989137"/>
          </a:xfrm>
          <a:prstGeom prst="rect">
            <a:avLst/>
          </a:prstGeom>
          <a:noFill/>
          <a:extLst>
            <a:ext uri="{909E8E84-426E-40DD-AFC4-6F175D3DCCD1}">
              <a14:hiddenFill xmlns:a14="http://schemas.microsoft.com/office/drawing/2010/main">
                <a:solidFill>
                  <a:srgbClr val="FFFFFF"/>
                </a:solidFill>
              </a14:hiddenFill>
            </a:ext>
          </a:extLst>
        </p:spPr>
      </p:pic>
      <p:pic>
        <p:nvPicPr>
          <p:cNvPr id="2049" name="Picture 4" descr="A graph of blue bars&#10;&#10;AI-generated content may be incorrect.">
            <a:extLst>
              <a:ext uri="{FF2B5EF4-FFF2-40B4-BE49-F238E27FC236}">
                <a16:creationId xmlns:a16="http://schemas.microsoft.com/office/drawing/2014/main" id="{689939F0-DFA2-A2C5-B9EF-E97513CF214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889683" y="780257"/>
            <a:ext cx="2797175" cy="1676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6214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7762E-F653-F309-16FD-361D6B32E91A}"/>
              </a:ext>
            </a:extLst>
          </p:cNvPr>
          <p:cNvSpPr>
            <a:spLocks noGrp="1"/>
          </p:cNvSpPr>
          <p:nvPr>
            <p:ph type="title"/>
          </p:nvPr>
        </p:nvSpPr>
        <p:spPr/>
        <p:txBody>
          <a:bodyPr/>
          <a:lstStyle/>
          <a:p>
            <a:r>
              <a:rPr lang="en-GB" dirty="0"/>
              <a:t>Resource documents</a:t>
            </a:r>
          </a:p>
        </p:txBody>
      </p:sp>
      <p:sp>
        <p:nvSpPr>
          <p:cNvPr id="3" name="Content Placeholder 2">
            <a:extLst>
              <a:ext uri="{FF2B5EF4-FFF2-40B4-BE49-F238E27FC236}">
                <a16:creationId xmlns:a16="http://schemas.microsoft.com/office/drawing/2014/main" id="{A26DBD67-94FD-FB0B-1C10-954B321EF775}"/>
              </a:ext>
            </a:extLst>
          </p:cNvPr>
          <p:cNvSpPr>
            <a:spLocks noGrp="1"/>
          </p:cNvSpPr>
          <p:nvPr>
            <p:ph idx="1"/>
          </p:nvPr>
        </p:nvSpPr>
        <p:spPr/>
        <p:txBody>
          <a:bodyPr/>
          <a:lstStyle/>
          <a:p>
            <a:r>
              <a:rPr lang="en-GB" b="1" i="1" dirty="0"/>
              <a:t>Basic Python</a:t>
            </a:r>
            <a:r>
              <a:rPr lang="en-GB" b="1" dirty="0"/>
              <a:t> </a:t>
            </a:r>
            <a:r>
              <a:rPr lang="en-GB" dirty="0"/>
              <a:t>– installation and coding </a:t>
            </a:r>
          </a:p>
          <a:p>
            <a:r>
              <a:rPr lang="en-GB" dirty="0"/>
              <a:t>	  </a:t>
            </a:r>
            <a:r>
              <a:rPr lang="en-GB" u="sng" dirty="0" err="1">
                <a:hlinkClick r:id="rId2" tooltip="https://officenationalstatistics.sharepoint.com/:o:/r/sites/sps_tesuanin/design%20coherence/upskilling%20materials/psd_capability_building?d=w4c02218afe184454bde7abbd9564fd47&amp;csf=1&amp;web=1&amp;e=csnuik&amp;xsdata=mdv8mdj8fgrmyjllzje0zdmymdq0otk1m2y5mdhkztu5owm1y2jj"/>
              </a:rPr>
              <a:t>PSD_Capability_Building</a:t>
            </a:r>
            <a:r>
              <a:rPr lang="en-GB" dirty="0"/>
              <a:t> – uses basic Python. </a:t>
            </a:r>
          </a:p>
          <a:p>
            <a:r>
              <a:rPr lang="en-GB" b="1" i="1" dirty="0"/>
              <a:t>Basic resources</a:t>
            </a:r>
            <a:r>
              <a:rPr lang="en-GB" i="1" dirty="0"/>
              <a:t>:</a:t>
            </a:r>
            <a:r>
              <a:rPr lang="en-GB" dirty="0"/>
              <a:t>  </a:t>
            </a:r>
            <a:r>
              <a:rPr lang="en-GB" u="sng" dirty="0">
                <a:hlinkClick r:id="rId3" tooltip="https://officenationalstatistics.sharepoint.com/:f:/r/sites/sps_tesuanin/technical%20innovation/e_training_and_development/skill%20sharing/session%20resources?csf=1&amp;web=1&amp;e=utlizi&amp;xsdata=mdv8mdj8fgrmyjllzje0zdmymdq0otk1m2y5mdhkztu5owm1y2jjfda3odgwn2jmy2u4"/>
              </a:rPr>
              <a:t>Session Resources</a:t>
            </a:r>
            <a:r>
              <a:rPr lang="en-GB" dirty="0"/>
              <a:t> - Folder containing materials for some coding upskilling sessions (Defines what “DAP” “CATS” Wiki is; shows how one runs Python in DAP by demonstration, step by step)</a:t>
            </a:r>
          </a:p>
          <a:p>
            <a:r>
              <a:rPr lang="en-GB" dirty="0"/>
              <a:t>Introduction to Python course; one of these is at URL </a:t>
            </a:r>
            <a:r>
              <a:rPr lang="en-GB" u="sng" dirty="0">
                <a:hlinkClick r:id="rId4"/>
              </a:rPr>
              <a:t>https://learninghub.ons.gov.uk/course/view.php?id=1168</a:t>
            </a:r>
            <a:r>
              <a:rPr lang="en-GB" dirty="0"/>
              <a:t>   </a:t>
            </a:r>
          </a:p>
          <a:p>
            <a:r>
              <a:rPr lang="en-GB" dirty="0"/>
              <a:t>also webpage </a:t>
            </a:r>
            <a:r>
              <a:rPr lang="en-GB" u="sng" dirty="0">
                <a:hlinkClick r:id="rId5"/>
              </a:rPr>
              <a:t>file:///C:/Users/OlseNW/Downloads/ITP_course_intro%20(1).html</a:t>
            </a:r>
            <a:r>
              <a:rPr lang="en-GB" dirty="0"/>
              <a:t>. </a:t>
            </a:r>
          </a:p>
          <a:p>
            <a:endParaRPr lang="en-GB" dirty="0"/>
          </a:p>
        </p:txBody>
      </p:sp>
    </p:spTree>
    <p:extLst>
      <p:ext uri="{BB962C8B-B14F-4D97-AF65-F5344CB8AC3E}">
        <p14:creationId xmlns:p14="http://schemas.microsoft.com/office/powerpoint/2010/main" val="21946107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253A4F-4F13-07C7-AA5D-B3EEF2F40B33}"/>
              </a:ext>
            </a:extLst>
          </p:cNvPr>
          <p:cNvSpPr>
            <a:spLocks noGrp="1"/>
          </p:cNvSpPr>
          <p:nvPr>
            <p:ph type="title"/>
          </p:nvPr>
        </p:nvSpPr>
        <p:spPr/>
        <p:txBody>
          <a:bodyPr/>
          <a:lstStyle/>
          <a:p>
            <a:r>
              <a:rPr lang="en-GB" dirty="0"/>
              <a:t>Frequently asked questions</a:t>
            </a:r>
          </a:p>
        </p:txBody>
      </p:sp>
      <p:sp>
        <p:nvSpPr>
          <p:cNvPr id="3" name="Content Placeholder 2">
            <a:extLst>
              <a:ext uri="{FF2B5EF4-FFF2-40B4-BE49-F238E27FC236}">
                <a16:creationId xmlns:a16="http://schemas.microsoft.com/office/drawing/2014/main" id="{3C23FA18-56CE-A9B8-091C-3EEAF2A6AC5C}"/>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2727660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A7573-1679-419C-C066-87E3A8295DF7}"/>
              </a:ext>
            </a:extLst>
          </p:cNvPr>
          <p:cNvSpPr>
            <a:spLocks noGrp="1"/>
          </p:cNvSpPr>
          <p:nvPr>
            <p:ph type="title"/>
          </p:nvPr>
        </p:nvSpPr>
        <p:spPr/>
        <p:txBody>
          <a:bodyPr/>
          <a:lstStyle/>
          <a:p>
            <a:r>
              <a:rPr lang="en-GB" dirty="0"/>
              <a:t>Questions &amp; Answers</a:t>
            </a:r>
          </a:p>
        </p:txBody>
      </p:sp>
      <p:sp>
        <p:nvSpPr>
          <p:cNvPr id="3" name="Content Placeholder 2">
            <a:extLst>
              <a:ext uri="{FF2B5EF4-FFF2-40B4-BE49-F238E27FC236}">
                <a16:creationId xmlns:a16="http://schemas.microsoft.com/office/drawing/2014/main" id="{01844C18-51CA-0117-9305-8E937D60EABF}"/>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3660883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C8215-5AEC-8E3D-D527-7D4DC972CE06}"/>
              </a:ext>
            </a:extLst>
          </p:cNvPr>
          <p:cNvSpPr>
            <a:spLocks noGrp="1"/>
          </p:cNvSpPr>
          <p:nvPr>
            <p:ph type="title"/>
          </p:nvPr>
        </p:nvSpPr>
        <p:spPr/>
        <p:txBody>
          <a:bodyPr/>
          <a:lstStyle/>
          <a:p>
            <a:r>
              <a:rPr lang="en-GB" dirty="0"/>
              <a:t>Learning Task 1</a:t>
            </a:r>
          </a:p>
        </p:txBody>
      </p:sp>
      <p:sp>
        <p:nvSpPr>
          <p:cNvPr id="3" name="Content Placeholder 2">
            <a:extLst>
              <a:ext uri="{FF2B5EF4-FFF2-40B4-BE49-F238E27FC236}">
                <a16:creationId xmlns:a16="http://schemas.microsoft.com/office/drawing/2014/main" id="{49375138-27F5-A632-FDAA-2953F52E46CC}"/>
              </a:ext>
            </a:extLst>
          </p:cNvPr>
          <p:cNvSpPr>
            <a:spLocks noGrp="1"/>
          </p:cNvSpPr>
          <p:nvPr>
            <p:ph idx="1"/>
          </p:nvPr>
        </p:nvSpPr>
        <p:spPr/>
        <p:txBody>
          <a:bodyPr/>
          <a:lstStyle/>
          <a:p>
            <a:r>
              <a:rPr lang="en-GB" dirty="0"/>
              <a:t>Learning task 1:</a:t>
            </a:r>
            <a:r>
              <a:rPr lang="en-GB" b="1" dirty="0"/>
              <a:t> </a:t>
            </a:r>
            <a:r>
              <a:rPr lang="en-GB" dirty="0"/>
              <a:t>You are a Winner if you can calculate an answer to this problem using Python:😊 Suppose the world population is 8 billion.  Suppose the net pop growth rate is +0.85% per year.  Calculate what year the world population would reach 14 billion. Later on, using a loop, substitute more accurate starter populations such as 8.2 billion, 8.45b. </a:t>
            </a:r>
          </a:p>
        </p:txBody>
      </p:sp>
    </p:spTree>
    <p:extLst>
      <p:ext uri="{BB962C8B-B14F-4D97-AF65-F5344CB8AC3E}">
        <p14:creationId xmlns:p14="http://schemas.microsoft.com/office/powerpoint/2010/main" val="4746253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D7A19-C6A5-E1ED-3830-0AAA3F3D52D9}"/>
              </a:ext>
            </a:extLst>
          </p:cNvPr>
          <p:cNvSpPr>
            <a:spLocks noGrp="1"/>
          </p:cNvSpPr>
          <p:nvPr>
            <p:ph type="title"/>
          </p:nvPr>
        </p:nvSpPr>
        <p:spPr/>
        <p:txBody>
          <a:bodyPr/>
          <a:lstStyle/>
          <a:p>
            <a:r>
              <a:rPr lang="en-GB" dirty="0"/>
              <a:t>Your activities</a:t>
            </a:r>
          </a:p>
        </p:txBody>
      </p:sp>
      <p:sp>
        <p:nvSpPr>
          <p:cNvPr id="3" name="Content Placeholder 2">
            <a:extLst>
              <a:ext uri="{FF2B5EF4-FFF2-40B4-BE49-F238E27FC236}">
                <a16:creationId xmlns:a16="http://schemas.microsoft.com/office/drawing/2014/main" id="{614D6FC2-E2EB-E074-589F-B45ADE53AE34}"/>
              </a:ext>
            </a:extLst>
          </p:cNvPr>
          <p:cNvSpPr>
            <a:spLocks noGrp="1"/>
          </p:cNvSpPr>
          <p:nvPr>
            <p:ph idx="1"/>
          </p:nvPr>
        </p:nvSpPr>
        <p:spPr/>
        <p:txBody>
          <a:bodyPr/>
          <a:lstStyle/>
          <a:p>
            <a:r>
              <a:rPr lang="en-GB" dirty="0"/>
              <a:t>Learning task 1- Extra challenge - You could gather the sum from this </a:t>
            </a:r>
            <a:r>
              <a:rPr lang="en-GB" dirty="0" err="1"/>
              <a:t>kaggle</a:t>
            </a:r>
            <a:r>
              <a:rPr lang="en-GB" dirty="0"/>
              <a:t> file of country populations, </a:t>
            </a:r>
            <a:r>
              <a:rPr lang="en-GB" u="sng" dirty="0">
                <a:hlinkClick r:id="rId2"/>
              </a:rPr>
              <a:t>https://www.kaggle.com/datasets/asadullahcreative/world-population-by-country-2025</a:t>
            </a:r>
            <a:r>
              <a:rPr lang="en-GB" dirty="0"/>
              <a:t> , accessed Dec. 2025. Print a list of the starting population and year of reaching the target. </a:t>
            </a:r>
          </a:p>
          <a:p>
            <a:r>
              <a:rPr lang="en-GB" dirty="0"/>
              <a:t> </a:t>
            </a:r>
          </a:p>
        </p:txBody>
      </p:sp>
    </p:spTree>
    <p:extLst>
      <p:ext uri="{BB962C8B-B14F-4D97-AF65-F5344CB8AC3E}">
        <p14:creationId xmlns:p14="http://schemas.microsoft.com/office/powerpoint/2010/main" val="35883208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1E06B-A261-49DE-35DD-96676B240AE2}"/>
              </a:ext>
            </a:extLst>
          </p:cNvPr>
          <p:cNvSpPr>
            <a:spLocks noGrp="1"/>
          </p:cNvSpPr>
          <p:nvPr>
            <p:ph type="title"/>
          </p:nvPr>
        </p:nvSpPr>
        <p:spPr/>
        <p:txBody>
          <a:bodyPr/>
          <a:lstStyle/>
          <a:p>
            <a:r>
              <a:rPr lang="en-GB" dirty="0"/>
              <a:t>Tasks 3 and 4</a:t>
            </a:r>
          </a:p>
        </p:txBody>
      </p:sp>
      <p:sp>
        <p:nvSpPr>
          <p:cNvPr id="3" name="Content Placeholder 2">
            <a:extLst>
              <a:ext uri="{FF2B5EF4-FFF2-40B4-BE49-F238E27FC236}">
                <a16:creationId xmlns:a16="http://schemas.microsoft.com/office/drawing/2014/main" id="{A19F6ED1-E2CD-DFA5-A9E8-908F6E2F82A4}"/>
              </a:ext>
            </a:extLst>
          </p:cNvPr>
          <p:cNvSpPr>
            <a:spLocks noGrp="1"/>
          </p:cNvSpPr>
          <p:nvPr>
            <p:ph idx="1"/>
          </p:nvPr>
        </p:nvSpPr>
        <p:spPr/>
        <p:txBody>
          <a:bodyPr>
            <a:normAutofit fontScale="85000" lnSpcReduction="20000"/>
          </a:bodyPr>
          <a:lstStyle/>
          <a:p>
            <a:r>
              <a:rPr lang="en-GB" dirty="0"/>
              <a:t>Learning task 2:</a:t>
            </a:r>
            <a:r>
              <a:rPr lang="en-GB" b="1" dirty="0"/>
              <a:t> </a:t>
            </a:r>
            <a:r>
              <a:rPr lang="en-GB" dirty="0"/>
              <a:t> can you write a bit of code, which sets the path for output files out of Python in your Python interpreter? You will have a chance to ask questions about key terms like interpreter, path, and output files so it is a workshop open to all, including beginners. You may want to try </a:t>
            </a:r>
            <a:r>
              <a:rPr lang="en-GB" dirty="0" err="1"/>
              <a:t>xlsxwriter</a:t>
            </a:r>
            <a:r>
              <a:rPr lang="en-GB" dirty="0"/>
              <a:t> package (you must use pip to install this, then import it) and write a csv or xlsx file. I myself use VS Code instead of Spyder but it’s up to you. Spyder, Jupiter and VS Code are known as ‘interfaces’ or ‘VDI’s for Python. Choose one.</a:t>
            </a:r>
          </a:p>
          <a:p>
            <a:r>
              <a:rPr lang="en-GB" dirty="0"/>
              <a:t>Learning task to jump into this as a Newbie:  </a:t>
            </a:r>
            <a:r>
              <a:rPr lang="en-GB" dirty="0" err="1"/>
              <a:t>RunMS</a:t>
            </a:r>
            <a:r>
              <a:rPr lang="en-GB" dirty="0"/>
              <a:t> Copilot by using </a:t>
            </a:r>
            <a:r>
              <a:rPr lang="en-GB" u="sng" dirty="0">
                <a:hlinkClick r:id="rId2"/>
              </a:rPr>
              <a:t>https://m365.cloud.microsoft/chat/?home=1&amp;auth=2</a:t>
            </a:r>
            <a:r>
              <a:rPr lang="en-GB" dirty="0"/>
              <a:t> [You will need to log in to MS 365 beforehand.  Do not worry, it is fine to login to MS 365 but do it in your laptop.  Don’t do this in your secure area (DAP).] Ask copilot to write you some code to set the path for output files using your Python interpreter version 3.11 or which version you use. A beginner book:  McKinney, Wes (2012), </a:t>
            </a:r>
            <a:r>
              <a:rPr lang="en-GB" i="1" dirty="0"/>
              <a:t>Python for Data Analysis. 3rd edition available </a:t>
            </a:r>
            <a:r>
              <a:rPr lang="en-GB" i="1" u="sng" dirty="0">
                <a:hlinkClick r:id="rId3"/>
              </a:rPr>
              <a:t>https://wesmckinney.com/book</a:t>
            </a:r>
            <a:r>
              <a:rPr lang="en-GB" i="1" dirty="0"/>
              <a:t> , 3</a:t>
            </a:r>
            <a:r>
              <a:rPr lang="en-GB" i="1" baseline="30000" dirty="0"/>
              <a:t>rd</a:t>
            </a:r>
            <a:r>
              <a:rPr lang="en-GB" i="1" dirty="0"/>
              <a:t> ed. Pub. 2022.(Open Access) </a:t>
            </a:r>
            <a:endParaRPr lang="en-GB" dirty="0"/>
          </a:p>
          <a:p>
            <a:pPr marL="0" indent="0">
              <a:buNone/>
            </a:pPr>
            <a:endParaRPr lang="en-GB" dirty="0"/>
          </a:p>
        </p:txBody>
      </p:sp>
    </p:spTree>
    <p:extLst>
      <p:ext uri="{BB962C8B-B14F-4D97-AF65-F5344CB8AC3E}">
        <p14:creationId xmlns:p14="http://schemas.microsoft.com/office/powerpoint/2010/main" val="23240170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4822C-0EAC-FAED-8B7A-64E5C4CF0278}"/>
              </a:ext>
            </a:extLst>
          </p:cNvPr>
          <p:cNvSpPr>
            <a:spLocks noGrp="1"/>
          </p:cNvSpPr>
          <p:nvPr>
            <p:ph type="title"/>
          </p:nvPr>
        </p:nvSpPr>
        <p:spPr/>
        <p:txBody>
          <a:bodyPr/>
          <a:lstStyle/>
          <a:p>
            <a:r>
              <a:rPr lang="en-GB" dirty="0"/>
              <a:t>Answers</a:t>
            </a:r>
          </a:p>
        </p:txBody>
      </p:sp>
      <p:sp>
        <p:nvSpPr>
          <p:cNvPr id="3" name="Content Placeholder 2">
            <a:extLst>
              <a:ext uri="{FF2B5EF4-FFF2-40B4-BE49-F238E27FC236}">
                <a16:creationId xmlns:a16="http://schemas.microsoft.com/office/drawing/2014/main" id="{1B65AC40-38A0-3DF5-0232-3289A62F8D4A}"/>
              </a:ext>
            </a:extLst>
          </p:cNvPr>
          <p:cNvSpPr>
            <a:spLocks noGrp="1"/>
          </p:cNvSpPr>
          <p:nvPr>
            <p:ph idx="1"/>
          </p:nvPr>
        </p:nvSpPr>
        <p:spPr/>
        <p:txBody>
          <a:bodyPr/>
          <a:lstStyle/>
          <a:p>
            <a:r>
              <a:rPr lang="en-GB" dirty="0"/>
              <a:t>See two types of document.  The html or word document containing a full rundown of Introductory Exercises. Or the Python code files:</a:t>
            </a:r>
          </a:p>
          <a:p>
            <a:pPr lvl="1"/>
            <a:r>
              <a:rPr lang="en-GB" dirty="0"/>
              <a:t>The file .</a:t>
            </a:r>
            <a:r>
              <a:rPr lang="en-GB" dirty="0" err="1"/>
              <a:t>ipynb</a:t>
            </a:r>
            <a:r>
              <a:rPr lang="en-GB" dirty="0"/>
              <a:t> is a </a:t>
            </a:r>
            <a:r>
              <a:rPr lang="en-GB" dirty="0" err="1"/>
              <a:t>Jupyter</a:t>
            </a:r>
            <a:r>
              <a:rPr lang="en-GB" dirty="0"/>
              <a:t> format document including some results.  It’s like an R markdown file.</a:t>
            </a:r>
          </a:p>
          <a:p>
            <a:pPr lvl="1"/>
            <a:r>
              <a:rPr lang="en-GB" dirty="0"/>
              <a:t>The file .</a:t>
            </a:r>
            <a:r>
              <a:rPr lang="en-GB" dirty="0" err="1"/>
              <a:t>py</a:t>
            </a:r>
            <a:r>
              <a:rPr lang="en-GB" dirty="0"/>
              <a:t> is a Python base code document.   You can run single lines, chunks or all of it, by SELECT ALL, Run, in your interpreter. </a:t>
            </a:r>
          </a:p>
          <a:p>
            <a:pPr lvl="1"/>
            <a:endParaRPr lang="en-GB" dirty="0"/>
          </a:p>
        </p:txBody>
      </p:sp>
      <p:sp>
        <p:nvSpPr>
          <p:cNvPr id="4" name="Rectangle 3">
            <a:extLst>
              <a:ext uri="{FF2B5EF4-FFF2-40B4-BE49-F238E27FC236}">
                <a16:creationId xmlns:a16="http://schemas.microsoft.com/office/drawing/2014/main" id="{0C1AE4F7-625F-67B3-95D7-3B841E90E08A}"/>
              </a:ext>
            </a:extLst>
          </p:cNvPr>
          <p:cNvSpPr/>
          <p:nvPr/>
        </p:nvSpPr>
        <p:spPr>
          <a:xfrm>
            <a:off x="1933072" y="4219074"/>
            <a:ext cx="9007643" cy="2574758"/>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lvl="1"/>
            <a:r>
              <a:rPr lang="en-GB" sz="2800" dirty="0">
                <a:solidFill>
                  <a:schemeClr val="accent2">
                    <a:lumMod val="50000"/>
                  </a:schemeClr>
                </a:solidFill>
              </a:rPr>
              <a:t>After you get experienced, you get stuck. This is normal.</a:t>
            </a:r>
          </a:p>
          <a:p>
            <a:pPr marL="914400" lvl="1" indent="-457200">
              <a:buFont typeface="Arial" panose="020B0604020202020204" pitchFamily="34" charset="0"/>
              <a:buChar char="•"/>
            </a:pPr>
            <a:r>
              <a:rPr lang="en-GB" sz="2800" dirty="0">
                <a:solidFill>
                  <a:schemeClr val="accent2">
                    <a:lumMod val="50000"/>
                  </a:schemeClr>
                </a:solidFill>
              </a:rPr>
              <a:t>Climb the mountain of solving problems by trial-and-error.  </a:t>
            </a:r>
          </a:p>
          <a:p>
            <a:pPr marL="914400" lvl="1" indent="-457200">
              <a:buFont typeface="Arial" panose="020B0604020202020204" pitchFamily="34" charset="0"/>
              <a:buChar char="•"/>
            </a:pPr>
            <a:r>
              <a:rPr lang="en-GB" sz="2800" dirty="0">
                <a:solidFill>
                  <a:schemeClr val="accent2">
                    <a:lumMod val="50000"/>
                  </a:schemeClr>
                </a:solidFill>
              </a:rPr>
              <a:t>Make notes of your Debug solutions.</a:t>
            </a:r>
          </a:p>
          <a:p>
            <a:pPr marL="914400" lvl="1" indent="-457200">
              <a:buFont typeface="Arial" panose="020B0604020202020204" pitchFamily="34" charset="0"/>
              <a:buChar char="•"/>
            </a:pPr>
            <a:r>
              <a:rPr lang="en-GB" sz="2800" dirty="0">
                <a:solidFill>
                  <a:schemeClr val="accent2">
                    <a:lumMod val="50000"/>
                  </a:schemeClr>
                </a:solidFill>
              </a:rPr>
              <a:t>Study the notes, study your ‘operating system’ and become more expert. </a:t>
            </a:r>
          </a:p>
        </p:txBody>
      </p:sp>
    </p:spTree>
    <p:extLst>
      <p:ext uri="{BB962C8B-B14F-4D97-AF65-F5344CB8AC3E}">
        <p14:creationId xmlns:p14="http://schemas.microsoft.com/office/powerpoint/2010/main" val="31223398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8C1BB4-FFE4-88CF-44A9-C4174DD72E49}"/>
              </a:ext>
            </a:extLst>
          </p:cNvPr>
          <p:cNvSpPr>
            <a:spLocks noGrp="1"/>
          </p:cNvSpPr>
          <p:nvPr>
            <p:ph type="title"/>
          </p:nvPr>
        </p:nvSpPr>
        <p:spPr/>
        <p:txBody>
          <a:bodyPr/>
          <a:lstStyle/>
          <a:p>
            <a:r>
              <a:rPr lang="en-GB" dirty="0"/>
              <a:t>Legitimate sources on the internet</a:t>
            </a:r>
          </a:p>
        </p:txBody>
      </p:sp>
      <p:sp>
        <p:nvSpPr>
          <p:cNvPr id="3" name="Content Placeholder 2">
            <a:extLst>
              <a:ext uri="{FF2B5EF4-FFF2-40B4-BE49-F238E27FC236}">
                <a16:creationId xmlns:a16="http://schemas.microsoft.com/office/drawing/2014/main" id="{7931D807-A180-230E-60D3-91BBC694C819}"/>
              </a:ext>
            </a:extLst>
          </p:cNvPr>
          <p:cNvSpPr>
            <a:spLocks noGrp="1"/>
          </p:cNvSpPr>
          <p:nvPr>
            <p:ph idx="1"/>
          </p:nvPr>
        </p:nvSpPr>
        <p:spPr/>
        <p:txBody>
          <a:bodyPr/>
          <a:lstStyle/>
          <a:p>
            <a:r>
              <a:rPr lang="en-GB" dirty="0"/>
              <a:t>A pandas tutorial for beginners</a:t>
            </a:r>
          </a:p>
          <a:p>
            <a:pPr lvl="1"/>
            <a:r>
              <a:rPr lang="en-GB" dirty="0">
                <a:hlinkClick r:id="rId2"/>
              </a:rPr>
              <a:t>https://sparkbyexamples.com/python-pandas-tutorial-for-beginners/</a:t>
            </a:r>
            <a:endParaRPr lang="en-GB" dirty="0"/>
          </a:p>
          <a:p>
            <a:r>
              <a:rPr lang="en-GB" dirty="0"/>
              <a:t>A high-schools website for python users, really accurate too: </a:t>
            </a:r>
          </a:p>
          <a:p>
            <a:pPr lvl="1"/>
            <a:r>
              <a:rPr lang="en-GB" dirty="0">
                <a:hlinkClick r:id="rId3"/>
              </a:rPr>
              <a:t>https://www.w3schools.com/python/python_for_loops.asp</a:t>
            </a:r>
            <a:endParaRPr lang="en-GB" dirty="0"/>
          </a:p>
          <a:p>
            <a:r>
              <a:rPr lang="en-GB" dirty="0"/>
              <a:t>How you make Spreadsheet outputs as tables, </a:t>
            </a:r>
          </a:p>
          <a:p>
            <a:pPr lvl="1"/>
            <a:r>
              <a:rPr lang="en-GB" dirty="0"/>
              <a:t>See </a:t>
            </a:r>
            <a:r>
              <a:rPr lang="en-GB" u="sng" dirty="0">
                <a:hlinkClick r:id="rId4"/>
              </a:rPr>
              <a:t>https://xlsxwriter.readthedocs.io/tutorial01.html</a:t>
            </a:r>
            <a:r>
              <a:rPr lang="en-GB" dirty="0"/>
              <a:t>, note tutorial 1: </a:t>
            </a:r>
          </a:p>
          <a:p>
            <a:endParaRPr lang="en-GB" dirty="0"/>
          </a:p>
          <a:p>
            <a:r>
              <a:rPr lang="en-GB" dirty="0"/>
              <a:t>Facilitator email </a:t>
            </a:r>
            <a:r>
              <a:rPr lang="en-GB" u="sng" dirty="0">
                <a:hlinkClick r:id="rId5"/>
              </a:rPr>
              <a:t>wendy.olsen@ons.gov.uk</a:t>
            </a:r>
            <a:endParaRPr lang="en-GB" u="sng" dirty="0"/>
          </a:p>
          <a:p>
            <a:r>
              <a:rPr lang="en-GB" dirty="0"/>
              <a:t>Facilitator personal </a:t>
            </a:r>
            <a:r>
              <a:rPr lang="en-GB" dirty="0" err="1"/>
              <a:t>github</a:t>
            </a:r>
            <a:r>
              <a:rPr lang="en-GB" dirty="0"/>
              <a:t> </a:t>
            </a:r>
            <a:r>
              <a:rPr lang="en-GB" dirty="0">
                <a:hlinkClick r:id="rId6"/>
              </a:rPr>
              <a:t>https://github.com/WendyOlsen</a:t>
            </a:r>
            <a:r>
              <a:rPr lang="en-GB" dirty="0"/>
              <a:t> </a:t>
            </a:r>
          </a:p>
        </p:txBody>
      </p:sp>
    </p:spTree>
    <p:extLst>
      <p:ext uri="{BB962C8B-B14F-4D97-AF65-F5344CB8AC3E}">
        <p14:creationId xmlns:p14="http://schemas.microsoft.com/office/powerpoint/2010/main" val="39739645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8D0B9C-8EE5-1F24-5BDB-CDB0CD40DFD1}"/>
              </a:ext>
            </a:extLst>
          </p:cNvPr>
          <p:cNvSpPr>
            <a:spLocks noGrp="1"/>
          </p:cNvSpPr>
          <p:nvPr>
            <p:ph type="title"/>
          </p:nvPr>
        </p:nvSpPr>
        <p:spPr/>
        <p:txBody>
          <a:bodyPr/>
          <a:lstStyle/>
          <a:p>
            <a:r>
              <a:rPr lang="en-GB" dirty="0"/>
              <a:t>References / Where to go for help</a:t>
            </a:r>
          </a:p>
        </p:txBody>
      </p:sp>
      <p:sp>
        <p:nvSpPr>
          <p:cNvPr id="3" name="Content Placeholder 2">
            <a:extLst>
              <a:ext uri="{FF2B5EF4-FFF2-40B4-BE49-F238E27FC236}">
                <a16:creationId xmlns:a16="http://schemas.microsoft.com/office/drawing/2014/main" id="{A263D7F1-B281-49BC-5922-F0943EFA00C3}"/>
              </a:ext>
            </a:extLst>
          </p:cNvPr>
          <p:cNvSpPr>
            <a:spLocks noGrp="1"/>
          </p:cNvSpPr>
          <p:nvPr>
            <p:ph idx="1"/>
          </p:nvPr>
        </p:nvSpPr>
        <p:spPr/>
        <p:txBody>
          <a:bodyPr>
            <a:normAutofit fontScale="85000" lnSpcReduction="10000"/>
          </a:bodyPr>
          <a:lstStyle/>
          <a:p>
            <a:r>
              <a:rPr lang="en-GB" dirty="0"/>
              <a:t>Chambers and Zaharia, </a:t>
            </a:r>
            <a:r>
              <a:rPr lang="en-GB" i="1" dirty="0"/>
              <a:t>Spark: The Definitive Guide,</a:t>
            </a:r>
            <a:r>
              <a:rPr lang="en-GB" dirty="0"/>
              <a:t>  </a:t>
            </a:r>
            <a:r>
              <a:rPr lang="en-GB" u="sng" dirty="0">
                <a:hlinkClick r:id="rId2"/>
              </a:rPr>
              <a:t>https://www.oreilly.com/library/view/spark-the-definitive/9781491912201/</a:t>
            </a:r>
            <a:r>
              <a:rPr lang="en-GB" dirty="0"/>
              <a:t>  helps you study chunks of the book. (Use the </a:t>
            </a:r>
            <a:r>
              <a:rPr lang="en-GB" b="1" i="1" dirty="0"/>
              <a:t>Read Now button</a:t>
            </a:r>
            <a:r>
              <a:rPr lang="en-GB" dirty="0"/>
              <a:t>) </a:t>
            </a:r>
          </a:p>
          <a:p>
            <a:r>
              <a:rPr lang="en-GB" dirty="0"/>
              <a:t>McKinney, Wes (2012), </a:t>
            </a:r>
            <a:r>
              <a:rPr lang="en-GB" i="1" dirty="0"/>
              <a:t>Python for Data Analysis:  Data Wrangling with Pandas, </a:t>
            </a:r>
            <a:r>
              <a:rPr lang="en-GB" i="1" dirty="0" err="1"/>
              <a:t>Numpy</a:t>
            </a:r>
            <a:r>
              <a:rPr lang="en-GB" i="1" dirty="0"/>
              <a:t>, and </a:t>
            </a:r>
            <a:r>
              <a:rPr lang="en-GB" i="1" dirty="0" err="1"/>
              <a:t>Ipython</a:t>
            </a:r>
            <a:r>
              <a:rPr lang="en-GB" dirty="0"/>
              <a:t>.  Singapore:  O’Reilly.</a:t>
            </a:r>
            <a:r>
              <a:rPr lang="en-GB" i="1" dirty="0"/>
              <a:t> (3rd edition available </a:t>
            </a:r>
            <a:r>
              <a:rPr lang="en-GB" i="1" u="sng" dirty="0">
                <a:hlinkClick r:id="rId3"/>
              </a:rPr>
              <a:t>https://wesmckinney.com/book</a:t>
            </a:r>
            <a:r>
              <a:rPr lang="en-GB" i="1" dirty="0"/>
              <a:t> , 3</a:t>
            </a:r>
            <a:r>
              <a:rPr lang="en-GB" i="1" baseline="30000" dirty="0"/>
              <a:t>rd</a:t>
            </a:r>
            <a:r>
              <a:rPr lang="en-GB" i="1" dirty="0"/>
              <a:t> ed. Pub. 2022.(Open Access))</a:t>
            </a:r>
            <a:endParaRPr lang="en-GB" dirty="0"/>
          </a:p>
          <a:p>
            <a:r>
              <a:rPr lang="en-GB" dirty="0"/>
              <a:t>Shaw, Zed (2018) </a:t>
            </a:r>
            <a:r>
              <a:rPr lang="en-GB" i="1" dirty="0"/>
              <a:t>Learn Python the Hard Way</a:t>
            </a:r>
            <a:r>
              <a:rPr lang="en-GB" dirty="0"/>
              <a:t>, various editions, PDF is not free, available at </a:t>
            </a:r>
            <a:r>
              <a:rPr lang="en-GB" u="sng" dirty="0">
                <a:hlinkClick r:id="rId4"/>
              </a:rPr>
              <a:t>https://www.informit.com/store/learn-python-the-hard-way-9780138270575</a:t>
            </a:r>
            <a:r>
              <a:rPr lang="en-GB" dirty="0"/>
              <a:t>  , see also </a:t>
            </a:r>
            <a:r>
              <a:rPr lang="en-GB" u="sng" dirty="0">
                <a:hlinkClick r:id="rId5"/>
              </a:rPr>
              <a:t>https://learnpythonthehardway.org/</a:t>
            </a:r>
            <a:r>
              <a:rPr lang="en-GB" dirty="0"/>
              <a:t> ) 5</a:t>
            </a:r>
            <a:r>
              <a:rPr lang="en-GB" baseline="30000" dirty="0"/>
              <a:t>th</a:t>
            </a:r>
            <a:r>
              <a:rPr lang="en-GB" dirty="0"/>
              <a:t> ed., ISBN 0-13-827057-0, London:  Addison-Wesley.  Don’t forget to scroll down….</a:t>
            </a:r>
          </a:p>
          <a:p>
            <a:r>
              <a:rPr lang="en-GB" dirty="0"/>
              <a:t>Practice skills:  </a:t>
            </a:r>
            <a:r>
              <a:rPr lang="en-GB" u="sng" dirty="0">
                <a:hlinkClick r:id="rId6"/>
              </a:rPr>
              <a:t>https://www.datacamp.com/courses/</a:t>
            </a:r>
            <a:r>
              <a:rPr lang="en-GB" u="sng">
                <a:hlinkClick r:id="rId6"/>
              </a:rPr>
              <a:t>intro-to-python-for-data-science</a:t>
            </a:r>
            <a:r>
              <a:rPr lang="en-GB"/>
              <a:t>.</a:t>
            </a:r>
            <a:endParaRPr lang="en-GB" dirty="0"/>
          </a:p>
        </p:txBody>
      </p:sp>
    </p:spTree>
    <p:extLst>
      <p:ext uri="{BB962C8B-B14F-4D97-AF65-F5344CB8AC3E}">
        <p14:creationId xmlns:p14="http://schemas.microsoft.com/office/powerpoint/2010/main" val="24159055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C259A23C-8562-45EA-915E-24EBEC04E3F5}" vid="{90C6B207-1CB5-4F08-8DEA-1562B3D5099C}"/>
    </a:ext>
  </a:extLst>
</a:theme>
</file>

<file path=docProps/app.xml><?xml version="1.0" encoding="utf-8"?>
<Properties xmlns="http://schemas.openxmlformats.org/officeDocument/2006/extended-properties" xmlns:vt="http://schemas.openxmlformats.org/officeDocument/2006/docPropsVTypes">
  <Template>Default Theme</Template>
  <TotalTime>74</TotalTime>
  <Words>1601</Words>
  <Application>Microsoft Office PowerPoint</Application>
  <PresentationFormat>Widescreen</PresentationFormat>
  <Paragraphs>144</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Calibri Light</vt:lpstr>
      <vt:lpstr>Courier New</vt:lpstr>
      <vt:lpstr>Selawik Semibold</vt:lpstr>
      <vt:lpstr>Office Theme</vt:lpstr>
      <vt:lpstr>Python Workshop 1 Demonstration</vt:lpstr>
      <vt:lpstr>PowerPoint Presentation</vt:lpstr>
      <vt:lpstr>Basic python programming</vt:lpstr>
      <vt:lpstr>Four kinds of loops and where to get help with writing computer code</vt:lpstr>
      <vt:lpstr>Sample Program Chunk in Python</vt:lpstr>
      <vt:lpstr>Sample Program Chunk in Python</vt:lpstr>
      <vt:lpstr>Taster Figures      Data-science style Histograms Kernel density diagrams Raise your ambitions</vt:lpstr>
      <vt:lpstr>Resource documents</vt:lpstr>
      <vt:lpstr>Frequently asked questions</vt:lpstr>
      <vt:lpstr>Questions &amp; Answers</vt:lpstr>
      <vt:lpstr>Learning Task 1</vt:lpstr>
      <vt:lpstr>Your activities</vt:lpstr>
      <vt:lpstr>Tasks 3 and 4</vt:lpstr>
      <vt:lpstr>Answers</vt:lpstr>
      <vt:lpstr>Legitimate sources on the internet</vt:lpstr>
      <vt:lpstr>References / Where to go for help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Olsen, Wendy</dc:creator>
  <cp:lastModifiedBy>Olsen, Wendy</cp:lastModifiedBy>
  <cp:revision>4</cp:revision>
  <dcterms:created xsi:type="dcterms:W3CDTF">2026-02-12T15:32:27Z</dcterms:created>
  <dcterms:modified xsi:type="dcterms:W3CDTF">2026-02-20T14:24:43Z</dcterms:modified>
</cp:coreProperties>
</file>